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6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71597" autoAdjust="0"/>
  </p:normalViewPr>
  <p:slideViewPr>
    <p:cSldViewPr snapToGrid="0">
      <p:cViewPr varScale="1">
        <p:scale>
          <a:sx n="59" d="100"/>
          <a:sy n="59" d="100"/>
        </p:scale>
        <p:origin x="160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71565-DC36-4A70-B25E-E49DE8FE06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51643-1C15-44C5-A1E1-CD3F88975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041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 안녕하세요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59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영업 전문가입니다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제가 여러분께 들려드릴 이야기는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솔직히 저도 믿기지 않는 이야기입니다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 하나 드리겠습니다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 중에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나는 코딩을 전혀 모른다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자신있게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말할 수 있는 분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계신가요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손을 들어달라고 요청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저도 그랬습니다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지금도 그렇습니다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저는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동안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2-3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시간씩 투자해서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고객사에서 사용하는 모바일 쇼핑몰을 완성했습니다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어떻게 가능했을까요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비코딩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덕분입니다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51643-1C15-44C5-A1E1-CD3F88975BD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983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저를 소개하겠습니다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평생 영업으로 살아온 사람입니다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넘게 고객을 만나고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물건을 팔고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관계를 맺어왔습니다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대학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전자통신과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지만 코딩은 배우지 못했습니다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숫자보다는 사람이 좋았거든요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코딩 경험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프로그래밍 언어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하나도 모릅니다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달 전까지 몰랐습니다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이런 제가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앱을 만들었습니다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개발자가 아닙니다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여전히 코드를 읽을 수 없습니다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앱은 만들었습니다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어떻게 가능했을까요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51643-1C15-44C5-A1E1-CD3F88975BD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908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＂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＂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말을 들으면 어떤 느낌이 드시나요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＂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느낌으로 코딩한다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＂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뜻일까요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웃음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비빔밥처럼 대충 섞어서 만든다는 뜻일까요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전혀 아닙니다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코딩의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vibe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분위기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뜻입니다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＂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 느낌을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코딩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뜻이죠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정확히 말하면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전통적인 방식의 코딩이 아니다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프로그래밍 언어를 외울 필요가 없다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한국말로 설명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하면 된다</a:t>
            </a: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들어볼까요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전통적인 개발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"Python Django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설치하고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모델을 정의하고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뷰를 작성하고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URL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라우팅하고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...“  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정보를 저장하는 페이지를 만들어줘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차이가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느껴지시나요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51643-1C15-44C5-A1E1-CD3F88975BD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261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 전통적인 개발과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코딩이 뭐가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비교해볼까요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배경 지식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전통적인 개발을 하려면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언어를 배워야 하고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Django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프레임워크를 배워야 하고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HTML, CSS, JavaScript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배워야 하고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데이터베이스도 이해해야 합니다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뭔 말인지 모르셔도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저도 잘 모릅니다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웃음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한국어만 할 줄 알면 됩니다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목록을 보여주는 페이지 만들어줘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말하면 됩니다</a:t>
            </a: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 기간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전통적인 개발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프로그래밍 기초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3-6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개발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6-12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실무 수준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1-2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</a:t>
            </a:r>
          </a:p>
          <a:p>
            <a:pPr latinLnBrk="1"/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개념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 적용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2-4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만에 완성했습니다</a:t>
            </a: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 방식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전통적인 개발자는 이렇게 일합니다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get_customer_list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(request):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customers =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Customer.objects.all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render(request, 'list.html', {'customers': customers})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 개발자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이렇게 일합니다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목록을 가져와서 화면에 표시해주세요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전화번호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주소가 보이면 좋겠어요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중요한 질문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결과물 품질은 어떨까요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놀랍게도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실전에서 사용할 수 있는 수준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 만든 앱은 지금 실제 고객사에서 테스트 중입니다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51643-1C15-44C5-A1E1-CD3F88975BD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60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여정을 간단히 소개하겠습니다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Claude Code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도구를 처음 만났습니다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"ERP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데이터베이스랑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연결하고 싶어요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말했습니다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정확히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뭔지도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몰랐습니다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회사 고객 정보가 저장된 곳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이라고만 알고 있었죠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Claude Code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알아들었습니다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코드를 만들어줬습니다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관리자 페이지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목록을 볼 수 있는 페이지를 만들어줘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 재고를 확인할 수 있게 해줘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할인율을 조정할 수 있으면 좋겠어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식으로 하나씩 요청했습니다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2-3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시간씩 대화하면서 기능을 추가했습니다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할인 정책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회사는 할인 정책이 복잡합니다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브랜드별로 할인율이 다르고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고객별로 할인율이 다르고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제조 연식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따라 또 할인이 있습니다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이걸 엑셀로 관리하고 있었는데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할인 정책을 자동으로 계산해줘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요청했습니다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Claude Code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해냈습니다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모바일 쇼핑몰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스마트폰에서 상품을 검색하고 주문할 수 있게 만들어줘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제일 어려웠습니다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18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화면을 만들어야 했거든요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하나씩 차근차근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로그인 화면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 검색 화면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장바구니 화면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화면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2-3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개씩 만들어갔습니다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결제와 마무리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토스페이먼츠라는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결제 시스템을 연결했습니다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정말 어려웠습니다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Claude Code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함께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토스 문서를 읽고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에러가 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Claude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보여주고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해결책을 받고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시도하고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과정을 반복했습니다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통계가 말해주는 것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번의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331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번의 개선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331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실패하고 다시 시도했다는 뜻입니다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번에 완벽하게 만드는 게 아니라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조금씩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개선해나가는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것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51643-1C15-44C5-A1E1-CD3F88975BD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393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예시를 하나 보여드리겠습니다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 상황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회사는 오래된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ERP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시스템을 쓰고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전화번호가 두 개 컬럼에 나뉘어 있었어요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TEL1: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일반전화를 넣는 곳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TEL3: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휴대전화를 넣는 곳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실제로 보니까 엉망이었습니다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휴대전화가 들어있고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일반전화가 들어있고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건 둘 다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비어있고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전통적인 방법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부서에 요청하면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요구사항 정리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2-3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5-7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 걸립니다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 방법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Claude Code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이렇게 말했습니다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"ERP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고객 전화번호가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TEL1, TEL3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곳에 있어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010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시작하는 번호를 찾아서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Django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휴대전화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컬럼에 넣어줘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실수하면 안 되니까 미리 확인할 수 있게 해줘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그랬더니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스크립트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만들어줬습니다</a:t>
            </a:r>
          </a:p>
          <a:p>
            <a:pPr lvl="1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ERP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휴대전화가 몇 개나 있는지 확인</a:t>
            </a:r>
          </a:p>
          <a:p>
            <a:pPr lvl="1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몇 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TEL3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몇 개 있는지 분석</a:t>
            </a:r>
          </a:p>
          <a:p>
            <a:pPr lvl="0"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동기화 스크립트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만들어줬습니다</a:t>
            </a:r>
          </a:p>
          <a:p>
            <a:pPr lvl="1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010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번호만 골라내기</a:t>
            </a:r>
          </a:p>
          <a:p>
            <a:pPr lvl="1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확인하기</a:t>
            </a:r>
          </a:p>
          <a:p>
            <a:pPr lvl="1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배치로 처리하기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DRY RUN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넣어줬습니다</a:t>
            </a:r>
          </a:p>
          <a:p>
            <a:pPr lvl="1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바꾸기 전에 미리 확인</a:t>
            </a:r>
          </a:p>
          <a:p>
            <a:pPr lvl="1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바뀔 예정입니다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</a:t>
            </a:r>
          </a:p>
          <a:p>
            <a:pPr lvl="0"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 후 실제 업데이트</a:t>
            </a:r>
          </a:p>
          <a:p>
            <a:pPr lvl="1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1,886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 처리</a:t>
            </a:r>
          </a:p>
          <a:p>
            <a:pPr lvl="1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휴대전화 정리 완료</a:t>
            </a: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소요 시간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30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 한 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문제를 한국어로 설명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만든 코드 실행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확인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업데이트 실행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대화 시간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전통적인 방법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5-7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코딩의 힘입니다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51643-1C15-44C5-A1E1-CD3F88975BD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817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예시를 보여드리겠습니다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 상황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모바일 쇼핑몰을 만들었으니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결제를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받아야죠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토스페이먼츠라는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서비스를 쓰기로 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근데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토스페이먼츠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문서를 봤더니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한글로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써있긴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한데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무슨 말인지 하나도 모르겠더라고요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clientKey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발급받아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Payment Widget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초기화하고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requestPayment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메서드를 호출하여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 소리인지 모르겠죠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저도 그랬습니다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 접근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Claude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이렇게 말했습니다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토스페이먼츠로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카드 결제를 받고 싶어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주문하기 버튼을 누르면 결제 화면이 나오고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결제가 완료되면 주문이 완료되게 만들어줘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그랬더니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Claude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코드를 만들어줬습니다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실패했습니다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 시도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"API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키가 잘못되었습니다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→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 키를 잘못 복사했더라고요</a:t>
            </a: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 시도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 완료 후 돌아올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URL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없습니다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→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URL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안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만들었대요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 시도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금액이 일치하지 않습니다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→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 로직을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빼먹었대요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매번 실패할 때마다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에러 메시지를 복사해서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Claude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보여줬습니다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에러가 났는데 어떻게 해야 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Claude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문제를 분석하고 해결책을 알려줬습니다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 시도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드디어 성공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결제가 됐습니다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 스마트폰에서 직접 테스트했을 때 진짜로 결제 화면이 나오고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카드 정보를 입력하니까 결제가 완료됐습니다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중요한 교훈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번에 뚝딱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만드는 게 아닙니다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번 시도하고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시도하는 겁니다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차이점은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전통적인 개발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실패하면 책을 보고 공부해야 함</a:t>
            </a:r>
          </a:p>
          <a:p>
            <a:pPr lvl="0" latinLnBrk="1"/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물어보면 됨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결제 시스템을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만에 완성했습니다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전통적인 방법이었다면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아마 포기했을 겁니다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51643-1C15-44C5-A1E1-CD3F88975BD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924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코딩에 성공하려면 무엇이 필요할까요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놀랍게도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기술 지식이 아닙니다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가지만 있으면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목표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무엇을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만들고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싶은지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알아야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나쁜 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뭔가 좋은 앱을 만들고 싶어요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회사 영업사원들이 스마트폰으로 고객 정보를 조회하고 주문을 넣을 수 있는 앱을 만들고 싶어요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차이가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느껴지시나요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목표가 구체적일수록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도와주기 쉽습니다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 경우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모바일 쇼핑몰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너무 추상적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"B2B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타이어 도매 모바일 주문 시스템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ERP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연동되어야 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구체적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"DOT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정책 자동 계산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아주 구체적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대화 능력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프로그래밍 언어를 알 필요는 없습니다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한국어로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명확하게 설명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수 있어야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나쁜 설명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로그인이 안 돼요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설명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로그인 버튼을 누르면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사용자를 찾을 수 없습니다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메시지가 나와요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아이디와 비밀번호는 맞게 입력했어요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좋은 설명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로그인 버튼을 누르면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사용자를 찾을 수 없습니다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메시지가 나와요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콘솔에는 이런 에러가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보여요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에러 메시지 복사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어제까지는 잘 됐는데 오늘 갑자기 안 돼요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정보가 많을수록 정확하게 도와줄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끈기와 반복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동안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331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커밋했다고 했죠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무슨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뜻이냐면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뭔가를 바꿨다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개선했다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아마도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300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번쯤은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실패했다</a:t>
            </a:r>
          </a:p>
          <a:p>
            <a:pPr latinLnBrk="1"/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바이브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코딩은 마법이 아닙니다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번에 완벽하게 만들어지지 않습니다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조금씩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개선해나가는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겁니다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 경험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 설정만 했어요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결과물 없음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목록이 화면에 나왔어요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성공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ERP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연동이 됐어요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큰 성공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계산이 됐어요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점점 완성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모바일 화면이 나왔어요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거의 다 왔다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결제까지 완성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매일 조금씩 발전했습니다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포기하지 않는 게 핵심입니다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에러가 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Claude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물어보세요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뭔가 이상하면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Claude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보여주세요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어떻게 해야 할지 모르면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Claude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물어보세요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가지만 있으면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목표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대화 능력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끈기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여러분도 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51643-1C15-44C5-A1E1-CD3F88975BD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526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 저도 해보고 싶은데 뭘 준비해야 하나요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질문입니다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비용이 얼마나 드나요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Claude Code Pro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구독료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$20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27,000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메인 비용입니다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 호스팅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$5-20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무료로 시작할 수도 있어요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PythonAnywhere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무료 플랜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 경우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Claude Code Pro: $20/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PythonAnywhere: $5/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$25/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34,000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달에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정도면 시작할 수 있습니다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 값이죠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웃음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 사양이 중요한가요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전혀 아닙니다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필요한 것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인터넷 연결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(5-10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된 노트북도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OK)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브라우저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엣지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 컴퓨터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특별한 사양 없음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브라우저만 켜면 됨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실제 작업은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Claude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서버에서 하거든요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 컴퓨터는 그냥 대화하는 창구일 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 환경 설치가 복잡한가요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과거에는 복잡했습니다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라이브러리 설치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에디터 설치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Claude Code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브라우저만 열면 됨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자동으로 환경 구축해줌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클릭 몇 번이면 시작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 첫날 한 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Claude Code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폴더 만들기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시작해보자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만에 시작했습니다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투자는 얼마나 필요한가요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 경우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2-3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5-6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거의 매일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동안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투자 시간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70-100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 사용 가능한 모바일 쇼핑몰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페이지</a:t>
            </a: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고객사 테스트 중</a:t>
            </a: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시간당 가치로 따지면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투자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500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이상 가치의 시스템 완성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외주 맡기면 최소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500-1000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시간당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이상의 가치를 만든 셈입니다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바쁜 직장인도 가능한가요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 그랬습니다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저도 낮에는 영업 일로 바빴습니다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퇴근 후 저녁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시에 작업했어요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주말에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3-4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시간씩 더 했고요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중요한 건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꾸준함입니다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하는 것보다 하루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하는 게 훨씬 낫습니다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학습합니다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여러분의 프로젝트를 이해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여러분도 조금씩 배웁니다</a:t>
            </a: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문제가 생기면 하루 자고 다시 보면 해결됨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51643-1C15-44C5-A1E1-CD3F88975B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91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96125-D5D7-EC01-5C3D-41887B48E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FEC3AD-2C1E-A58C-539E-8B94B39CB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B7687D-D9E9-8613-64A8-3C3A0362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3E285D-E3CA-78C2-5E2A-28098B684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ABCEE-AAED-CC2B-C680-1FBCDCE71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147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9AEDE-B1B1-88E6-AF7B-EAC19014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323D0C-B261-BCA4-4C25-7ABA37DCA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B1ADBD-06F7-DBC3-3E0B-F48E47D9B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90E1AC-178F-B5B3-39AE-2E2E2816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D1AE4E-2A76-34C8-AF22-26281DF33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268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E07D1-7579-3126-F351-DF7136D7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DD66FE-D2F6-4697-31C8-14328B57B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87F1DA-DE5C-FE35-6E3C-B9F46661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6157C9-4F76-4A5B-153B-01D1E380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86F6AC-D5E7-08E4-5B36-6BF800E5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195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5F828-8313-89F4-C8FE-B61A90C62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6C68B3-EB78-12F8-7BDB-E668D77FE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64E07A-B8E1-65EF-98F1-69566E243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1441EA-D43C-A98A-48E7-1BCCFC32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E193DB-CFAC-BED9-EDE3-5A88992B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7980B-81D9-AB12-0F3F-122BA111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277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8E7C0-37D1-BF5E-632C-5824C28A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0ABD5-6E07-06A5-8F44-A868B2BEA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CA1D70-56F1-005C-309F-3D138D19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BBB116-3375-BC98-291E-631112A17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B33221-CFC9-CCEB-3C97-5DC4C4192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6B708C-6D87-60BC-E600-AF5BE9435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D4ABD8-C009-EA19-0836-CD5D9C703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5CE39D-1D66-2E99-0350-976BC5C48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1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4F5CB-0CC6-64C9-9A9F-5CEED7BAF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41AFC6-58CB-F40D-60DC-BCCA7C66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F87613-8D6B-D4C3-8DF6-36629F45C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2F9FE0-D3E1-5D34-EA46-B5D03847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16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ACCB92-8F45-D45B-1D97-18610A93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89EFB9F-EF8F-F805-9CF1-8DB0457A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823ED-54D5-F2DA-F83A-E00F892A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28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0A9DB5-B15A-AF6A-869F-3C1912C4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0DF338-15B5-7C10-881B-2EF852E9B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FD064C-B6A9-C5EE-C0CA-18EF64C3C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5C18BD-6CF5-23D0-BEEC-48FA6D65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E41BFE-A1FA-BB88-CF48-375F90939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92A294-A7C4-F866-3512-F97A20D8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46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11ECC-CC96-1473-D6D1-7FAC7F58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1E7410-ABCC-B102-518B-A8DA63462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C665C6-138D-2F5D-E881-F2C435BEF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02184B-2B85-A398-9C0E-92633503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3009B6-5E73-3588-BDD5-BE790087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907A04-A7D3-4EA1-1802-7C644606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66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9F7B6-E90F-A705-A63A-0107EEC8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A68CE7-D765-24FF-9F29-F6E82D84E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7A80A9-D78D-0175-4EBF-6AB2A316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4508C8-E219-1E9D-9176-E214F7CC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82A4E3-CA52-1ABA-B7D9-80DD9703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11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85A39F-A4D0-8898-D8AC-E2BB74B2D3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799FD4-27BE-F675-A175-C88FE7782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709971-0A21-06D0-2781-F42BE9A5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1F9EA-6EC3-E175-1F03-C14A33B66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4E7C75-5EA7-A6B4-6850-E415FB9B0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67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E0415F-8BD3-F5FD-3165-8BA2EADC7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2C79D0-3A25-FE24-92E5-D5355A15F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03248-E7DE-CD46-B786-4DB9E563D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1A2AE-3823-4084-9EAF-2283ED587D9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97366-9D68-9E0E-C3B7-E1D32BAF2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69035A-334B-AFE6-92CA-399A78F23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F84CD-8AFB-40F3-A2F0-6AB22F391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10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99416-BE8B-F1D2-D162-294ECE04C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ko-KR" altLang="en-US" b="1" dirty="0" err="1">
                <a:cs typeface="Times New Roman" panose="02020603050405020304" pitchFamily="18" charset="0"/>
              </a:rPr>
              <a:t>바이브</a:t>
            </a:r>
            <a:r>
              <a:rPr lang="ko-KR" altLang="en-US" b="1" dirty="0">
                <a:cs typeface="Times New Roman" panose="02020603050405020304" pitchFamily="18" charset="0"/>
              </a:rPr>
              <a:t> </a:t>
            </a:r>
            <a:r>
              <a:rPr lang="ko-KR" altLang="ko-KR" b="1" dirty="0">
                <a:cs typeface="Times New Roman" panose="02020603050405020304" pitchFamily="18" charset="0"/>
              </a:rPr>
              <a:t>코딩</a:t>
            </a:r>
            <a:br>
              <a:rPr lang="en-US" altLang="ko-KR" b="1" dirty="0">
                <a:cs typeface="Times New Roman" panose="02020603050405020304" pitchFamily="18" charset="0"/>
              </a:rPr>
            </a:br>
            <a:r>
              <a:rPr lang="en-US" altLang="ko-KR" b="1" dirty="0">
                <a:cs typeface="Times New Roman" panose="02020603050405020304" pitchFamily="18" charset="0"/>
              </a:rPr>
              <a:t>(Vibe Coding) 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BB3946-A90C-A5DD-65FE-278AF9B0AD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ko-KR" b="1" dirty="0"/>
              <a:t>코딩 몰라도 앱 만드는 시대가 왔습니다</a:t>
            </a:r>
            <a:endParaRPr lang="ko-KR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201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8D7F1-C5B5-D570-081F-CA600CE9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📋 </a:t>
            </a:r>
            <a:r>
              <a:rPr lang="ko-KR" altLang="ko-KR" b="1" dirty="0"/>
              <a:t>강의 개요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8912E3-0129-9D88-AF83-96BE43B0A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200000"/>
              </a:lnSpc>
            </a:pPr>
            <a:r>
              <a:rPr lang="ko-KR" altLang="ko-KR" b="1" dirty="0"/>
              <a:t>대상</a:t>
            </a:r>
            <a:r>
              <a:rPr lang="en-US" altLang="ko-KR" dirty="0"/>
              <a:t>: </a:t>
            </a:r>
            <a:r>
              <a:rPr lang="ko-KR" altLang="ko-KR" dirty="0"/>
              <a:t>코딩 경험이 전혀 없는 일반인</a:t>
            </a:r>
          </a:p>
          <a:p>
            <a:pPr lvl="0">
              <a:lnSpc>
                <a:spcPct val="200000"/>
              </a:lnSpc>
            </a:pPr>
            <a:r>
              <a:rPr lang="ko-KR" altLang="ko-KR" b="1" dirty="0"/>
              <a:t>난이도</a:t>
            </a:r>
            <a:r>
              <a:rPr lang="en-US" altLang="ko-KR" dirty="0"/>
              <a:t>: </a:t>
            </a:r>
            <a:r>
              <a:rPr lang="ko-KR" altLang="ko-KR" dirty="0"/>
              <a:t>중학교</a:t>
            </a:r>
            <a:r>
              <a:rPr lang="en-US" altLang="ko-KR" dirty="0"/>
              <a:t> 3</a:t>
            </a:r>
            <a:r>
              <a:rPr lang="ko-KR" altLang="ko-KR" dirty="0"/>
              <a:t>학년 수준</a:t>
            </a:r>
          </a:p>
          <a:p>
            <a:pPr lvl="0">
              <a:lnSpc>
                <a:spcPct val="200000"/>
              </a:lnSpc>
            </a:pPr>
            <a:r>
              <a:rPr lang="ko-KR" altLang="ko-KR" b="1" dirty="0"/>
              <a:t>시간</a:t>
            </a:r>
            <a:r>
              <a:rPr lang="en-US" altLang="ko-KR" dirty="0"/>
              <a:t>: 60-90</a:t>
            </a:r>
            <a:r>
              <a:rPr lang="ko-KR" altLang="ko-KR" dirty="0"/>
              <a:t>분</a:t>
            </a:r>
          </a:p>
          <a:p>
            <a:pPr>
              <a:lnSpc>
                <a:spcPct val="200000"/>
              </a:lnSpc>
            </a:pPr>
            <a:r>
              <a:rPr lang="ko-KR" altLang="ko-KR" b="1" dirty="0"/>
              <a:t>목표</a:t>
            </a:r>
            <a:r>
              <a:rPr lang="en-US" altLang="ko-KR" dirty="0"/>
              <a:t>: AI</a:t>
            </a:r>
            <a:r>
              <a:rPr lang="ko-KR" altLang="ko-KR" dirty="0"/>
              <a:t>를 활용한 개발이 가능하다는 확신과 동기 부여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865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AAF0B2-4C03-F91B-5439-F253C8824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59</a:t>
            </a:r>
            <a:r>
              <a:rPr lang="ko-KR" altLang="ko-KR" b="1" dirty="0"/>
              <a:t>세 </a:t>
            </a:r>
            <a:r>
              <a:rPr lang="ko-KR" altLang="ko-KR" b="1" dirty="0" err="1"/>
              <a:t>영업맨이</a:t>
            </a:r>
            <a:r>
              <a:rPr lang="en-US" altLang="ko-KR" b="1" dirty="0"/>
              <a:t> 35</a:t>
            </a:r>
            <a:r>
              <a:rPr lang="ko-KR" altLang="ko-KR" b="1" dirty="0"/>
              <a:t>일 만에 </a:t>
            </a:r>
            <a:br>
              <a:rPr lang="en-US" altLang="ko-KR" b="1" dirty="0"/>
            </a:br>
            <a:r>
              <a:rPr lang="ko-KR" altLang="ko-KR" b="1" dirty="0"/>
              <a:t>쇼핑몰 앱을 만든 이야기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368994-7C9F-6701-1FBC-E3484141C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69595"/>
            <a:ext cx="10515600" cy="1807368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ko-KR" b="1" dirty="0"/>
              <a:t>코딩 한 줄 몰라도</a:t>
            </a:r>
            <a:r>
              <a:rPr lang="en-US" altLang="ko-KR" b="1" dirty="0"/>
              <a:t>, AI</a:t>
            </a:r>
            <a:r>
              <a:rPr lang="ko-KR" altLang="ko-KR" b="1" dirty="0"/>
              <a:t>와 함께하면 가능합니다</a:t>
            </a:r>
            <a:endParaRPr lang="ko-KR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6670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D2BA6-A3B1-9D51-165E-A3807D7E3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ko-KR" altLang="ko-KR" b="1" dirty="0"/>
              <a:t>저는 이런 사람입니다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C7A100-84E7-8AE1-EB98-48DC5F3AA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US" altLang="ko-KR" sz="2400" dirty="0"/>
              <a:t>👤 </a:t>
            </a:r>
            <a:r>
              <a:rPr lang="ko-KR" altLang="ko-KR" sz="2400" b="1" dirty="0"/>
              <a:t>나이</a:t>
            </a:r>
            <a:r>
              <a:rPr lang="en-US" altLang="ko-KR" sz="2400" dirty="0"/>
              <a:t>: 59</a:t>
            </a:r>
            <a:r>
              <a:rPr lang="ko-KR" altLang="ko-KR" sz="2400" dirty="0"/>
              <a:t>세</a:t>
            </a:r>
          </a:p>
          <a:p>
            <a:pPr lvl="0">
              <a:lnSpc>
                <a:spcPct val="150000"/>
              </a:lnSpc>
            </a:pPr>
            <a:r>
              <a:rPr lang="en-US" altLang="ko-KR" sz="2400" dirty="0"/>
              <a:t>💼 </a:t>
            </a:r>
            <a:r>
              <a:rPr lang="ko-KR" altLang="ko-KR" sz="2400" b="1" dirty="0"/>
              <a:t>경력</a:t>
            </a:r>
            <a:r>
              <a:rPr lang="en-US" altLang="ko-KR" sz="2400" dirty="0"/>
              <a:t>: 30</a:t>
            </a:r>
            <a:r>
              <a:rPr lang="ko-KR" altLang="ko-KR" sz="2400" dirty="0"/>
              <a:t>년 이상 영업 전문가</a:t>
            </a:r>
          </a:p>
          <a:p>
            <a:pPr lvl="0">
              <a:lnSpc>
                <a:spcPct val="150000"/>
              </a:lnSpc>
            </a:pPr>
            <a:r>
              <a:rPr lang="en-US" altLang="ko-KR" sz="2400" dirty="0"/>
              <a:t>📚 </a:t>
            </a:r>
            <a:r>
              <a:rPr lang="ko-KR" altLang="ko-KR" sz="2400" b="1" dirty="0"/>
              <a:t>학력</a:t>
            </a:r>
            <a:r>
              <a:rPr lang="en-US" altLang="ko-KR" sz="2400" dirty="0"/>
              <a:t>: </a:t>
            </a:r>
            <a:r>
              <a:rPr lang="ko-KR" altLang="en-US" sz="2400" dirty="0"/>
              <a:t>전자통신</a:t>
            </a:r>
            <a:r>
              <a:rPr lang="ko-KR" altLang="ko-KR" sz="2400" dirty="0"/>
              <a:t>과 출신</a:t>
            </a:r>
            <a:r>
              <a:rPr lang="en-US" altLang="ko-KR" sz="2400" dirty="0"/>
              <a:t>(</a:t>
            </a:r>
            <a:r>
              <a:rPr lang="ko-KR" altLang="en-US" sz="2400" dirty="0"/>
              <a:t>코딩 모름</a:t>
            </a:r>
            <a:r>
              <a:rPr lang="en-US" altLang="ko-KR" sz="2400" dirty="0"/>
              <a:t>)</a:t>
            </a:r>
            <a:endParaRPr lang="ko-KR" altLang="ko-KR" sz="2400" dirty="0"/>
          </a:p>
          <a:p>
            <a:pPr lvl="0">
              <a:lnSpc>
                <a:spcPct val="150000"/>
              </a:lnSpc>
            </a:pPr>
            <a:r>
              <a:rPr lang="en-US" altLang="ko-KR" sz="2400" dirty="0"/>
              <a:t>💻 </a:t>
            </a:r>
            <a:r>
              <a:rPr lang="ko-KR" altLang="ko-KR" sz="2400" b="1" dirty="0"/>
              <a:t>코딩 경험</a:t>
            </a:r>
            <a:r>
              <a:rPr lang="en-US" altLang="ko-KR" sz="2400" dirty="0"/>
              <a:t>: 0</a:t>
            </a:r>
            <a:r>
              <a:rPr lang="ko-KR" altLang="ko-KR" sz="2400" dirty="0"/>
              <a:t>년</a:t>
            </a:r>
            <a:r>
              <a:rPr lang="en-US" altLang="ko-KR" sz="2400" dirty="0"/>
              <a:t> (</a:t>
            </a:r>
            <a:r>
              <a:rPr lang="ko-KR" altLang="ko-KR" sz="2400" dirty="0"/>
              <a:t>지금도 코드를 읽을 수 없습니다</a:t>
            </a:r>
            <a:r>
              <a:rPr lang="en-US" altLang="ko-KR" sz="2400" dirty="0"/>
              <a:t>)</a:t>
            </a:r>
            <a:endParaRPr lang="ko-KR" altLang="ko-KR" sz="2400" dirty="0"/>
          </a:p>
          <a:p>
            <a:pPr lvl="0">
              <a:lnSpc>
                <a:spcPct val="150000"/>
              </a:lnSpc>
            </a:pPr>
            <a:r>
              <a:rPr lang="en-US" altLang="ko-KR" sz="2400" dirty="0"/>
              <a:t>🎓 </a:t>
            </a:r>
            <a:r>
              <a:rPr lang="ko-KR" altLang="ko-KR" sz="2400" b="1" dirty="0"/>
              <a:t>프로그래밍 공부</a:t>
            </a:r>
            <a:r>
              <a:rPr lang="en-US" altLang="ko-KR" sz="2400" dirty="0"/>
              <a:t>: </a:t>
            </a:r>
            <a:r>
              <a:rPr lang="ko-KR" altLang="ko-KR" sz="2400" dirty="0"/>
              <a:t>한 적 없음</a:t>
            </a:r>
          </a:p>
          <a:p>
            <a:pPr lvl="0">
              <a:lnSpc>
                <a:spcPct val="150000"/>
              </a:lnSpc>
            </a:pPr>
            <a:r>
              <a:rPr lang="en-US" altLang="ko-KR" sz="2400" dirty="0"/>
              <a:t>⚠️ </a:t>
            </a:r>
            <a:r>
              <a:rPr lang="ko-KR" altLang="ko-KR" sz="2400" b="1" dirty="0"/>
              <a:t>주의</a:t>
            </a:r>
            <a:r>
              <a:rPr lang="en-US" altLang="ko-KR" sz="2400" dirty="0"/>
              <a:t>: </a:t>
            </a:r>
            <a:r>
              <a:rPr lang="ko-KR" altLang="ko-KR" sz="2400" dirty="0"/>
              <a:t>저는 개발자가 아닙니다</a:t>
            </a:r>
            <a:r>
              <a:rPr lang="en-US" altLang="ko-KR" sz="2400" dirty="0"/>
              <a:t>!</a:t>
            </a:r>
            <a:endParaRPr lang="ko-KR" altLang="ko-KR" sz="24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249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18945-EF52-D69E-E673-47A960BE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ko-KR" altLang="en-US" b="1" dirty="0" err="1">
                <a:cs typeface="Times New Roman" panose="02020603050405020304" pitchFamily="18" charset="0"/>
              </a:rPr>
              <a:t>바이브</a:t>
            </a:r>
            <a:r>
              <a:rPr lang="ko-KR" altLang="en-US" b="1" dirty="0">
                <a:cs typeface="Times New Roman" panose="02020603050405020304" pitchFamily="18" charset="0"/>
              </a:rPr>
              <a:t> </a:t>
            </a:r>
            <a:r>
              <a:rPr lang="ko-KR" altLang="ko-KR" b="1" dirty="0">
                <a:cs typeface="Times New Roman" panose="02020603050405020304" pitchFamily="18" charset="0"/>
              </a:rPr>
              <a:t>코딩</a:t>
            </a:r>
            <a:r>
              <a:rPr lang="en-US" altLang="ko-KR" b="1" dirty="0">
                <a:cs typeface="Times New Roman" panose="02020603050405020304" pitchFamily="18" charset="0"/>
              </a:rPr>
              <a:t>(Vibe Coding)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2F1E03-695F-BC0D-F941-984EC8378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 err="1"/>
              <a:t>바이브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느낌으로 코딩하기</a:t>
            </a:r>
            <a:r>
              <a:rPr lang="en-US" altLang="ko-KR" dirty="0"/>
              <a:t>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아닙니다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진짜 뜻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solidFill>
                  <a:srgbClr val="00B0F0"/>
                </a:solidFill>
              </a:rPr>
              <a:t>AI </a:t>
            </a:r>
            <a:r>
              <a:rPr lang="ko-KR" altLang="ko-KR" b="1" dirty="0">
                <a:solidFill>
                  <a:srgbClr val="00B0F0"/>
                </a:solidFill>
              </a:rPr>
              <a:t>도구</a:t>
            </a:r>
            <a:r>
              <a:rPr lang="ko-KR" altLang="ko-KR" b="1" dirty="0"/>
              <a:t>를 활용해서</a:t>
            </a:r>
            <a:r>
              <a:rPr lang="en-US" altLang="ko-KR" b="1" dirty="0"/>
              <a:t>, </a:t>
            </a:r>
            <a:r>
              <a:rPr lang="ko-KR" altLang="ko-KR" b="1" dirty="0">
                <a:solidFill>
                  <a:srgbClr val="00B0F0"/>
                </a:solidFill>
              </a:rPr>
              <a:t>코딩 지식 없이</a:t>
            </a:r>
            <a:r>
              <a:rPr lang="ko-KR" altLang="ko-KR" b="1" dirty="0"/>
              <a:t>도 원하는 프로그램을 만드는 새로운 개발 방식</a:t>
            </a:r>
            <a:endParaRPr lang="ko-KR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9445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5EE18-695B-D1BF-3CEA-ACB00D3B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ko-KR" altLang="ko-KR" b="1" dirty="0"/>
              <a:t>기존 개발</a:t>
            </a:r>
            <a:r>
              <a:rPr lang="en-US" altLang="ko-KR" b="1" dirty="0"/>
              <a:t> vs </a:t>
            </a:r>
            <a:r>
              <a:rPr lang="ko-KR" altLang="ko-KR" b="1" dirty="0" err="1"/>
              <a:t>바이브</a:t>
            </a:r>
            <a:r>
              <a:rPr lang="ko-KR" altLang="ko-KR" b="1" dirty="0"/>
              <a:t> 코딩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18005C0-E673-123C-0E91-D6E5056C36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868677"/>
              </p:ext>
            </p:extLst>
          </p:nvPr>
        </p:nvGraphicFramePr>
        <p:xfrm>
          <a:off x="838200" y="1864972"/>
          <a:ext cx="10515600" cy="43881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7331">
                  <a:extLst>
                    <a:ext uri="{9D8B030D-6E8A-4147-A177-3AD203B41FA5}">
                      <a16:colId xmlns:a16="http://schemas.microsoft.com/office/drawing/2014/main" val="213370562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195471222"/>
                    </a:ext>
                  </a:extLst>
                </a:gridCol>
                <a:gridCol w="3803469">
                  <a:extLst>
                    <a:ext uri="{9D8B030D-6E8A-4147-A177-3AD203B41FA5}">
                      <a16:colId xmlns:a16="http://schemas.microsoft.com/office/drawing/2014/main" val="183649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구분</a:t>
                      </a:r>
                      <a:endParaRPr lang="ko-KR" sz="20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>
                          <a:effectLst/>
                        </a:rPr>
                        <a:t>전통적인 개발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 err="1">
                          <a:effectLst/>
                        </a:rPr>
                        <a:t>바이브</a:t>
                      </a:r>
                      <a:r>
                        <a:rPr lang="ko-KR" sz="2000" kern="100" dirty="0">
                          <a:effectLst/>
                        </a:rPr>
                        <a:t> 코딩</a:t>
                      </a:r>
                      <a:r>
                        <a:rPr lang="en-US" sz="2000" kern="100" dirty="0">
                          <a:effectLst/>
                        </a:rPr>
                        <a:t> (AI </a:t>
                      </a:r>
                      <a:r>
                        <a:rPr lang="ko-KR" sz="2000" kern="100" dirty="0">
                          <a:effectLst/>
                        </a:rPr>
                        <a:t>활용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028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배경 지식</a:t>
                      </a:r>
                      <a:endParaRPr lang="ko-KR" sz="20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>
                          <a:effectLst/>
                        </a:rPr>
                        <a:t>프로그래밍 언어 필수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b="1" kern="100" dirty="0">
                          <a:effectLst/>
                        </a:rPr>
                        <a:t>한국어만 가능하면</a:t>
                      </a:r>
                      <a:r>
                        <a:rPr lang="en-US" sz="2000" b="1" kern="100" dirty="0">
                          <a:effectLst/>
                        </a:rPr>
                        <a:t> OK</a:t>
                      </a:r>
                      <a:endParaRPr lang="ko-KR" sz="2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85006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학습 기간</a:t>
                      </a:r>
                      <a:endParaRPr lang="ko-KR" sz="20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6</a:t>
                      </a:r>
                      <a:r>
                        <a:rPr lang="ko-KR" sz="2000" kern="100">
                          <a:effectLst/>
                        </a:rPr>
                        <a:t>개월</a:t>
                      </a:r>
                      <a:r>
                        <a:rPr lang="en-US" sz="2000" kern="100">
                          <a:effectLst/>
                        </a:rPr>
                        <a:t>~2</a:t>
                      </a:r>
                      <a:r>
                        <a:rPr lang="ko-KR" sz="2000" kern="100">
                          <a:effectLst/>
                        </a:rPr>
                        <a:t>년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2-4</a:t>
                      </a:r>
                      <a:r>
                        <a:rPr lang="ko-KR" sz="2000" b="1" kern="100" dirty="0">
                          <a:effectLst/>
                        </a:rPr>
                        <a:t>주면 시작 가능</a:t>
                      </a:r>
                      <a:endParaRPr lang="ko-KR" sz="2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465934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도구</a:t>
                      </a:r>
                      <a:endParaRPr lang="ko-KR" sz="20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>
                          <a:effectLst/>
                        </a:rPr>
                        <a:t>코드 에디터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ko-KR" sz="2000" kern="100" dirty="0">
                          <a:effectLst/>
                        </a:rPr>
                        <a:t>터미널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Claude Code </a:t>
                      </a:r>
                      <a:r>
                        <a:rPr lang="ko-KR" sz="2000" b="1" kern="100" dirty="0">
                          <a:effectLst/>
                        </a:rPr>
                        <a:t>등</a:t>
                      </a:r>
                      <a:r>
                        <a:rPr lang="en-US" sz="2000" b="1" kern="100" dirty="0">
                          <a:effectLst/>
                        </a:rPr>
                        <a:t> AI </a:t>
                      </a:r>
                      <a:r>
                        <a:rPr lang="ko-KR" sz="2000" b="1" kern="100" dirty="0">
                          <a:effectLst/>
                        </a:rPr>
                        <a:t>도구</a:t>
                      </a:r>
                      <a:endParaRPr lang="ko-KR" sz="2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60384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작업 방식</a:t>
                      </a:r>
                      <a:endParaRPr lang="ko-KR" sz="20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>
                          <a:effectLst/>
                        </a:rPr>
                        <a:t>코드를 직접 작성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AI</a:t>
                      </a:r>
                      <a:r>
                        <a:rPr lang="ko-KR" sz="2000" b="1" kern="100" dirty="0">
                          <a:effectLst/>
                        </a:rPr>
                        <a:t>에게 설명하고 확인</a:t>
                      </a:r>
                      <a:endParaRPr lang="ko-KR" sz="2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61116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문제 해결</a:t>
                      </a:r>
                      <a:endParaRPr lang="ko-KR" sz="20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 err="1">
                          <a:effectLst/>
                        </a:rPr>
                        <a:t>스택오버플로우</a:t>
                      </a:r>
                      <a:r>
                        <a:rPr lang="ko-KR" sz="2000" kern="100" dirty="0">
                          <a:effectLst/>
                        </a:rPr>
                        <a:t> 검색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AI</a:t>
                      </a:r>
                      <a:r>
                        <a:rPr lang="ko-KR" sz="2000" b="1" kern="100" dirty="0">
                          <a:effectLst/>
                        </a:rPr>
                        <a:t>에게 물어보기</a:t>
                      </a:r>
                      <a:endParaRPr lang="ko-KR" sz="2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672285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결과물 품질</a:t>
                      </a:r>
                      <a:endParaRPr lang="ko-KR" sz="20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전문가 수준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b="1" kern="100" dirty="0">
                          <a:effectLst/>
                        </a:rPr>
                        <a:t>실전 사용 가능한 수준</a:t>
                      </a:r>
                      <a:endParaRPr lang="ko-KR" sz="2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746453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59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6D344-9592-C5B3-8ED5-16F5DAD8F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altLang="ko-KR" b="1" dirty="0"/>
              <a:t>35</a:t>
            </a:r>
            <a:r>
              <a:rPr lang="ko-KR" altLang="ko-KR" b="1" dirty="0"/>
              <a:t>일 여정</a:t>
            </a:r>
            <a:r>
              <a:rPr lang="en-US" altLang="ko-KR" b="1" dirty="0"/>
              <a:t>, </a:t>
            </a:r>
            <a:r>
              <a:rPr lang="en-US" altLang="ko-KR" sz="3200" b="1" dirty="0"/>
              <a:t>10</a:t>
            </a:r>
            <a:r>
              <a:rPr lang="ko-KR" altLang="ko-KR" sz="3200" b="1" dirty="0"/>
              <a:t>월</a:t>
            </a:r>
            <a:r>
              <a:rPr lang="en-US" altLang="ko-KR" sz="3200" b="1" dirty="0"/>
              <a:t> 1</a:t>
            </a:r>
            <a:r>
              <a:rPr lang="ko-KR" altLang="ko-KR" sz="3200" b="1" dirty="0"/>
              <a:t>일</a:t>
            </a:r>
            <a:r>
              <a:rPr lang="en-US" altLang="ko-KR" sz="3200" b="1" dirty="0"/>
              <a:t> → 11</a:t>
            </a:r>
            <a:r>
              <a:rPr lang="ko-KR" altLang="ko-KR" sz="3200" b="1" dirty="0"/>
              <a:t>월</a:t>
            </a:r>
            <a:r>
              <a:rPr lang="en-US" altLang="ko-KR" sz="3200" b="1" dirty="0"/>
              <a:t> 4</a:t>
            </a:r>
            <a:r>
              <a:rPr lang="ko-KR" altLang="ko-KR" sz="3200" b="1" dirty="0"/>
              <a:t>일까지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CB20B1-7E63-7AB6-D5F4-EDC282DEE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6230983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ko-KR" sz="2200" b="1" dirty="0"/>
              <a:t>📅 </a:t>
            </a:r>
            <a:r>
              <a:rPr lang="ko-KR" altLang="ko-KR" sz="2200" b="1" dirty="0"/>
              <a:t>주요 마일스톤</a:t>
            </a:r>
            <a:endParaRPr lang="ko-KR" altLang="ko-KR" sz="2200" dirty="0"/>
          </a:p>
          <a:p>
            <a:pPr lvl="0">
              <a:lnSpc>
                <a:spcPct val="160000"/>
              </a:lnSpc>
            </a:pPr>
            <a:r>
              <a:rPr lang="en-US" altLang="ko-KR" sz="2200" b="1" dirty="0"/>
              <a:t>1</a:t>
            </a:r>
            <a:r>
              <a:rPr lang="ko-KR" altLang="ko-KR" sz="2200" b="1" dirty="0"/>
              <a:t>주차</a:t>
            </a:r>
            <a:r>
              <a:rPr lang="en-US" altLang="ko-KR" sz="2200" b="1" dirty="0"/>
              <a:t> (10.1-10.7)</a:t>
            </a:r>
            <a:r>
              <a:rPr lang="en-US" altLang="ko-KR" sz="2200" dirty="0"/>
              <a:t>: </a:t>
            </a:r>
            <a:r>
              <a:rPr lang="ko-KR" altLang="ko-KR" sz="2200" dirty="0"/>
              <a:t>환경 설정</a:t>
            </a:r>
            <a:r>
              <a:rPr lang="en-US" altLang="ko-KR" sz="2200" dirty="0"/>
              <a:t>, ERP </a:t>
            </a:r>
            <a:r>
              <a:rPr lang="ko-KR" altLang="ko-KR" sz="2200" dirty="0"/>
              <a:t>연동</a:t>
            </a:r>
          </a:p>
          <a:p>
            <a:pPr lvl="0">
              <a:lnSpc>
                <a:spcPct val="160000"/>
              </a:lnSpc>
            </a:pPr>
            <a:r>
              <a:rPr lang="en-US" altLang="ko-KR" sz="2200" b="1" dirty="0"/>
              <a:t>2</a:t>
            </a:r>
            <a:r>
              <a:rPr lang="ko-KR" altLang="ko-KR" sz="2200" b="1" dirty="0"/>
              <a:t>주차</a:t>
            </a:r>
            <a:r>
              <a:rPr lang="en-US" altLang="ko-KR" sz="2200" b="1" dirty="0"/>
              <a:t> (10.8-10.14)</a:t>
            </a:r>
            <a:r>
              <a:rPr lang="en-US" altLang="ko-KR" sz="2200" dirty="0"/>
              <a:t>: </a:t>
            </a:r>
            <a:r>
              <a:rPr lang="ko-KR" altLang="ko-KR" sz="2200" dirty="0"/>
              <a:t>관리자 페이지 기본 기능</a:t>
            </a:r>
          </a:p>
          <a:p>
            <a:pPr lvl="0">
              <a:lnSpc>
                <a:spcPct val="160000"/>
              </a:lnSpc>
            </a:pPr>
            <a:r>
              <a:rPr lang="en-US" altLang="ko-KR" sz="2200" b="1" dirty="0"/>
              <a:t>3</a:t>
            </a:r>
            <a:r>
              <a:rPr lang="ko-KR" altLang="ko-KR" sz="2200" b="1" dirty="0"/>
              <a:t>주차</a:t>
            </a:r>
            <a:r>
              <a:rPr lang="en-US" altLang="ko-KR" sz="2200" b="1" dirty="0"/>
              <a:t> (10.15-10.21)</a:t>
            </a:r>
            <a:r>
              <a:rPr lang="en-US" altLang="ko-KR" sz="2200" dirty="0"/>
              <a:t>: </a:t>
            </a:r>
            <a:r>
              <a:rPr lang="ko-KR" altLang="ko-KR" sz="2200" dirty="0"/>
              <a:t>할인 정책 구현</a:t>
            </a:r>
          </a:p>
          <a:p>
            <a:pPr lvl="0">
              <a:lnSpc>
                <a:spcPct val="160000"/>
              </a:lnSpc>
            </a:pPr>
            <a:r>
              <a:rPr lang="en-US" altLang="ko-KR" sz="2200" b="1" dirty="0"/>
              <a:t>4</a:t>
            </a:r>
            <a:r>
              <a:rPr lang="ko-KR" altLang="ko-KR" sz="2200" b="1" dirty="0"/>
              <a:t>주차</a:t>
            </a:r>
            <a:r>
              <a:rPr lang="en-US" altLang="ko-KR" sz="2200" b="1" dirty="0"/>
              <a:t> (10.22-10.28)</a:t>
            </a:r>
            <a:r>
              <a:rPr lang="en-US" altLang="ko-KR" sz="2200" dirty="0"/>
              <a:t>: </a:t>
            </a:r>
            <a:r>
              <a:rPr lang="ko-KR" altLang="ko-KR" sz="2200" dirty="0"/>
              <a:t>모바일 쇼핑몰 구현</a:t>
            </a:r>
          </a:p>
          <a:p>
            <a:pPr lvl="0">
              <a:lnSpc>
                <a:spcPct val="160000"/>
              </a:lnSpc>
            </a:pPr>
            <a:r>
              <a:rPr lang="en-US" altLang="ko-KR" sz="2200" b="1" dirty="0"/>
              <a:t>5</a:t>
            </a:r>
            <a:r>
              <a:rPr lang="ko-KR" altLang="ko-KR" sz="2200" b="1" dirty="0"/>
              <a:t>주차</a:t>
            </a:r>
            <a:r>
              <a:rPr lang="en-US" altLang="ko-KR" sz="2200" b="1" dirty="0"/>
              <a:t> (10.29-11.4)</a:t>
            </a:r>
            <a:r>
              <a:rPr lang="en-US" altLang="ko-KR" sz="2200" dirty="0"/>
              <a:t>: </a:t>
            </a:r>
            <a:r>
              <a:rPr lang="ko-KR" altLang="ko-KR" sz="2200" dirty="0"/>
              <a:t>결제 시스템</a:t>
            </a:r>
            <a:r>
              <a:rPr lang="en-US" altLang="ko-KR" sz="2200" dirty="0"/>
              <a:t>, </a:t>
            </a:r>
            <a:r>
              <a:rPr lang="ko-KR" altLang="ko-KR" sz="2200" dirty="0"/>
              <a:t>마무리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08F7C14-D710-4657-1CD3-5F03289559EB}"/>
              </a:ext>
            </a:extLst>
          </p:cNvPr>
          <p:cNvSpPr txBox="1">
            <a:spLocks/>
          </p:cNvSpPr>
          <p:nvPr/>
        </p:nvSpPr>
        <p:spPr>
          <a:xfrm>
            <a:off x="7363097" y="1825625"/>
            <a:ext cx="4828903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en-US" altLang="ko-KR" sz="2200" b="1" dirty="0"/>
              <a:t>📊 </a:t>
            </a:r>
            <a:r>
              <a:rPr lang="ko-KR" altLang="ko-KR" sz="2200" b="1" dirty="0"/>
              <a:t>통계</a:t>
            </a:r>
            <a:endParaRPr lang="ko-KR" altLang="ko-KR" sz="2200" dirty="0"/>
          </a:p>
          <a:p>
            <a:pPr>
              <a:lnSpc>
                <a:spcPct val="160000"/>
              </a:lnSpc>
            </a:pPr>
            <a:r>
              <a:rPr lang="ko-KR" altLang="ko-KR" sz="2200" b="1" dirty="0"/>
              <a:t>총 작업 일수</a:t>
            </a:r>
            <a:r>
              <a:rPr lang="en-US" altLang="ko-KR" sz="2200" dirty="0"/>
              <a:t>: 35</a:t>
            </a:r>
            <a:r>
              <a:rPr lang="ko-KR" altLang="ko-KR" sz="2200" dirty="0"/>
              <a:t>일</a:t>
            </a:r>
          </a:p>
          <a:p>
            <a:pPr>
              <a:lnSpc>
                <a:spcPct val="160000"/>
              </a:lnSpc>
            </a:pPr>
            <a:r>
              <a:rPr lang="en-US" altLang="ko-KR" sz="2200" b="1" dirty="0"/>
              <a:t>Git </a:t>
            </a:r>
            <a:r>
              <a:rPr lang="ko-KR" altLang="ko-KR" sz="2200" b="1" dirty="0" err="1"/>
              <a:t>커밋</a:t>
            </a:r>
            <a:r>
              <a:rPr lang="ko-KR" altLang="ko-KR" sz="2200" b="1" dirty="0"/>
              <a:t> 수</a:t>
            </a:r>
            <a:r>
              <a:rPr lang="en-US" altLang="ko-KR" sz="2200" dirty="0"/>
              <a:t>: 331</a:t>
            </a:r>
            <a:r>
              <a:rPr lang="ko-KR" altLang="ko-KR" sz="2200" dirty="0"/>
              <a:t>번</a:t>
            </a:r>
          </a:p>
          <a:p>
            <a:pPr>
              <a:lnSpc>
                <a:spcPct val="160000"/>
              </a:lnSpc>
            </a:pPr>
            <a:r>
              <a:rPr lang="ko-KR" altLang="ko-KR" sz="2200" b="1" dirty="0"/>
              <a:t>페이지 수</a:t>
            </a:r>
            <a:r>
              <a:rPr lang="en-US" altLang="ko-KR" sz="2200" dirty="0"/>
              <a:t>: 18</a:t>
            </a:r>
            <a:r>
              <a:rPr lang="ko-KR" altLang="ko-KR" sz="2200" dirty="0"/>
              <a:t>개</a:t>
            </a:r>
          </a:p>
          <a:p>
            <a:pPr>
              <a:lnSpc>
                <a:spcPct val="160000"/>
              </a:lnSpc>
            </a:pPr>
            <a:r>
              <a:rPr lang="en-US" altLang="ko-KR" sz="2200" b="1" dirty="0"/>
              <a:t>API </a:t>
            </a:r>
            <a:r>
              <a:rPr lang="ko-KR" altLang="ko-KR" sz="2200" b="1" dirty="0" err="1"/>
              <a:t>엔드포인트</a:t>
            </a:r>
            <a:r>
              <a:rPr lang="en-US" altLang="ko-KR" sz="2200" dirty="0"/>
              <a:t>: 25</a:t>
            </a:r>
            <a:r>
              <a:rPr lang="ko-KR" altLang="ko-KR" sz="2200" dirty="0"/>
              <a:t>개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2130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BF1C6-1AEA-31D8-CC74-A6BDC900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8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ko-KR" sz="2200" b="1" dirty="0"/>
              <a:t>예시</a:t>
            </a:r>
            <a:r>
              <a:rPr lang="en-US" altLang="ko-KR" sz="2200" b="1" dirty="0"/>
              <a:t> 1.    </a:t>
            </a:r>
            <a:r>
              <a:rPr lang="en-US" altLang="ko-KR" b="1" dirty="0"/>
              <a:t>"</a:t>
            </a:r>
            <a:r>
              <a:rPr lang="ko-KR" altLang="ko-KR" b="1" dirty="0"/>
              <a:t>고객 전화번호를 정리하고 싶어요</a:t>
            </a:r>
            <a:r>
              <a:rPr lang="en-US" altLang="ko-KR" b="1" dirty="0"/>
              <a:t>"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09693-6128-F7DB-42AC-8FF037E2CD0E}"/>
              </a:ext>
            </a:extLst>
          </p:cNvPr>
          <p:cNvSpPr txBox="1"/>
          <p:nvPr/>
        </p:nvSpPr>
        <p:spPr>
          <a:xfrm>
            <a:off x="237307" y="1647655"/>
            <a:ext cx="10515599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🗣️ </a:t>
            </a:r>
            <a:r>
              <a:rPr lang="ko-KR" altLang="ko-KR" b="1" dirty="0"/>
              <a:t>제가 한 말</a:t>
            </a:r>
            <a:r>
              <a:rPr lang="en-US" altLang="ko-KR" b="1" dirty="0"/>
              <a:t>:</a:t>
            </a:r>
            <a:endParaRPr lang="ko-KR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"ERP</a:t>
            </a:r>
            <a:r>
              <a:rPr lang="ko-KR" altLang="ko-KR" dirty="0"/>
              <a:t>에 있는 휴대전화 번호</a:t>
            </a:r>
            <a:r>
              <a:rPr lang="en-US" altLang="ko-KR" dirty="0"/>
              <a:t>(010)</a:t>
            </a:r>
            <a:r>
              <a:rPr lang="ko-KR" altLang="ko-KR" dirty="0"/>
              <a:t>를 찾아서</a:t>
            </a:r>
            <a:r>
              <a:rPr lang="en-US" altLang="ko-KR" dirty="0"/>
              <a:t> Django </a:t>
            </a:r>
            <a:r>
              <a:rPr lang="ko-KR" altLang="ko-KR" dirty="0"/>
              <a:t>데이터베이스의</a:t>
            </a:r>
            <a:r>
              <a:rPr lang="en-US" altLang="ko-KR" dirty="0"/>
              <a:t> '</a:t>
            </a:r>
            <a:r>
              <a:rPr lang="ko-KR" altLang="ko-KR" dirty="0"/>
              <a:t>휴대전화</a:t>
            </a:r>
            <a:r>
              <a:rPr lang="en-US" altLang="ko-KR" dirty="0"/>
              <a:t>' </a:t>
            </a:r>
            <a:r>
              <a:rPr lang="ko-KR" altLang="ko-KR" dirty="0"/>
              <a:t>컬럼에 넣어주세요</a:t>
            </a:r>
            <a:r>
              <a:rPr lang="en-US" altLang="ko-KR" dirty="0"/>
              <a:t>"</a:t>
            </a:r>
            <a:endParaRPr lang="ko-KR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A8D6A-D434-6B56-355A-CF24022337D0}"/>
              </a:ext>
            </a:extLst>
          </p:cNvPr>
          <p:cNvSpPr txBox="1"/>
          <p:nvPr/>
        </p:nvSpPr>
        <p:spPr>
          <a:xfrm>
            <a:off x="1047206" y="3173675"/>
            <a:ext cx="4413070" cy="2577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💻 AI</a:t>
            </a:r>
            <a:r>
              <a:rPr lang="ko-KR" altLang="ko-KR" sz="2000" b="1" dirty="0"/>
              <a:t>가 한 일</a:t>
            </a:r>
            <a:r>
              <a:rPr lang="en-US" altLang="ko-KR" sz="2000" b="1" dirty="0"/>
              <a:t>:</a:t>
            </a:r>
            <a:endParaRPr lang="ko-KR" altLang="ko-KR" sz="2000" dirty="0"/>
          </a:p>
          <a:p>
            <a:pPr lvl="0">
              <a:lnSpc>
                <a:spcPct val="150000"/>
              </a:lnSpc>
            </a:pPr>
            <a:r>
              <a:rPr lang="en-US" altLang="ko-KR" dirty="0"/>
              <a:t>ERP </a:t>
            </a:r>
            <a:r>
              <a:rPr lang="ko-KR" altLang="ko-KR" dirty="0"/>
              <a:t>데이터 분석 스크립트 생성</a:t>
            </a:r>
            <a:r>
              <a:rPr lang="en-US" altLang="ko-KR" dirty="0"/>
              <a:t> (200</a:t>
            </a:r>
            <a:r>
              <a:rPr lang="ko-KR" altLang="ko-KR" dirty="0"/>
              <a:t>줄</a:t>
            </a:r>
            <a:r>
              <a:rPr lang="en-US" altLang="ko-KR" dirty="0"/>
              <a:t>)</a:t>
            </a:r>
            <a:endParaRPr lang="ko-KR" altLang="ko-KR" dirty="0"/>
          </a:p>
          <a:p>
            <a:pPr lvl="0">
              <a:lnSpc>
                <a:spcPct val="150000"/>
              </a:lnSpc>
            </a:pPr>
            <a:r>
              <a:rPr lang="ko-KR" altLang="ko-KR" dirty="0"/>
              <a:t>전화번호 형식 검증 로직 작성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배치 처리</a:t>
            </a:r>
            <a:r>
              <a:rPr lang="en-US" altLang="ko-KR" dirty="0"/>
              <a:t> (</a:t>
            </a:r>
            <a:r>
              <a:rPr lang="ko-KR" altLang="ko-KR" dirty="0"/>
              <a:t>한 번에</a:t>
            </a:r>
            <a:r>
              <a:rPr lang="en-US" altLang="ko-KR" dirty="0"/>
              <a:t> 200</a:t>
            </a:r>
            <a:r>
              <a:rPr lang="ko-KR" altLang="ko-KR" dirty="0"/>
              <a:t>명씩</a:t>
            </a:r>
            <a:r>
              <a:rPr lang="en-US" altLang="ko-KR" dirty="0"/>
              <a:t>)</a:t>
            </a:r>
            <a:endParaRPr lang="ko-KR" altLang="ko-KR" dirty="0"/>
          </a:p>
          <a:p>
            <a:pPr lvl="0">
              <a:lnSpc>
                <a:spcPct val="150000"/>
              </a:lnSpc>
            </a:pPr>
            <a:r>
              <a:rPr lang="en-US" altLang="ko-KR" dirty="0"/>
              <a:t>DRY RUN </a:t>
            </a:r>
            <a:r>
              <a:rPr lang="ko-KR" altLang="ko-KR" dirty="0"/>
              <a:t>모드</a:t>
            </a:r>
            <a:r>
              <a:rPr lang="en-US" altLang="ko-KR" dirty="0"/>
              <a:t> (</a:t>
            </a:r>
            <a:r>
              <a:rPr lang="ko-KR" altLang="ko-KR" dirty="0"/>
              <a:t>안전하게 미리 확인</a:t>
            </a:r>
            <a:r>
              <a:rPr lang="en-US" altLang="ko-KR" dirty="0"/>
              <a:t>)</a:t>
            </a:r>
            <a:endParaRPr lang="ko-KR" altLang="ko-KR" dirty="0"/>
          </a:p>
          <a:p>
            <a:pPr lvl="0">
              <a:lnSpc>
                <a:spcPct val="150000"/>
              </a:lnSpc>
            </a:pPr>
            <a:r>
              <a:rPr lang="ko-KR" altLang="ko-KR" dirty="0"/>
              <a:t>실제 업데이트 실행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0ABF0-678C-E85C-6D96-C3C02EFEC7FF}"/>
              </a:ext>
            </a:extLst>
          </p:cNvPr>
          <p:cNvSpPr txBox="1"/>
          <p:nvPr/>
        </p:nvSpPr>
        <p:spPr>
          <a:xfrm>
            <a:off x="7032171" y="3173675"/>
            <a:ext cx="4413070" cy="1746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✅ </a:t>
            </a:r>
            <a:r>
              <a:rPr lang="ko-KR" altLang="ko-KR" sz="2000" b="1" dirty="0"/>
              <a:t>결과</a:t>
            </a:r>
            <a:r>
              <a:rPr lang="en-US" altLang="ko-KR" sz="2000" b="1" dirty="0"/>
              <a:t>:</a:t>
            </a:r>
            <a:endParaRPr lang="ko-KR" altLang="ko-KR" sz="2000" dirty="0"/>
          </a:p>
          <a:p>
            <a:pPr lvl="0">
              <a:lnSpc>
                <a:spcPct val="150000"/>
              </a:lnSpc>
            </a:pPr>
            <a:r>
              <a:rPr lang="en-US" altLang="ko-KR" dirty="0"/>
              <a:t>1,886</a:t>
            </a:r>
            <a:r>
              <a:rPr lang="ko-KR" altLang="ko-KR" dirty="0"/>
              <a:t>명 고객 데이터 처리</a:t>
            </a:r>
          </a:p>
          <a:p>
            <a:pPr lvl="0">
              <a:lnSpc>
                <a:spcPct val="150000"/>
              </a:lnSpc>
            </a:pPr>
            <a:r>
              <a:rPr lang="en-US" altLang="ko-KR" dirty="0"/>
              <a:t>93</a:t>
            </a:r>
            <a:r>
              <a:rPr lang="ko-KR" altLang="ko-KR" dirty="0"/>
              <a:t>개 휴대전화 번호 정리 완료</a:t>
            </a:r>
          </a:p>
          <a:p>
            <a:pPr lvl="0">
              <a:lnSpc>
                <a:spcPct val="150000"/>
              </a:lnSpc>
            </a:pPr>
            <a:r>
              <a:rPr lang="ko-KR" altLang="ko-KR" b="1" dirty="0"/>
              <a:t>소요 시간</a:t>
            </a:r>
            <a:r>
              <a:rPr lang="en-US" altLang="ko-KR" b="1" dirty="0"/>
              <a:t>: 30</a:t>
            </a:r>
            <a:r>
              <a:rPr lang="ko-KR" altLang="ko-KR" b="1" dirty="0"/>
              <a:t>분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061035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F5B64-742D-E331-C07A-3B04CD3E0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ko-KR" altLang="ko-KR" sz="2200" b="1" dirty="0"/>
              <a:t>예시</a:t>
            </a:r>
            <a:r>
              <a:rPr lang="en-US" altLang="ko-KR" sz="2200" b="1" dirty="0"/>
              <a:t> 1.     </a:t>
            </a:r>
            <a:r>
              <a:rPr lang="en-US" altLang="ko-KR" b="1" dirty="0"/>
              <a:t>"</a:t>
            </a:r>
            <a:r>
              <a:rPr lang="ko-KR" altLang="ko-KR" b="1" dirty="0"/>
              <a:t>결제 시스템을 연결하고 싶어요</a:t>
            </a:r>
            <a:r>
              <a:rPr lang="en-US" altLang="ko-KR" b="1" dirty="0"/>
              <a:t>"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807554-43E1-1118-889C-A48484364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35" y="1472928"/>
            <a:ext cx="5418908" cy="878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b="1" dirty="0"/>
              <a:t>🗣️ </a:t>
            </a:r>
            <a:r>
              <a:rPr lang="ko-KR" altLang="ko-KR" sz="2000" b="1" dirty="0"/>
              <a:t>제가 한 말</a:t>
            </a:r>
            <a:r>
              <a:rPr lang="en-US" altLang="ko-KR" sz="2000" b="1" dirty="0"/>
              <a:t>:</a:t>
            </a:r>
            <a:endParaRPr lang="ko-KR" altLang="ko-KR" sz="2000" dirty="0"/>
          </a:p>
          <a:p>
            <a:pPr marL="0" indent="0">
              <a:buNone/>
            </a:pPr>
            <a:r>
              <a:rPr lang="en-US" altLang="ko-KR" sz="2000" dirty="0"/>
              <a:t>"</a:t>
            </a:r>
            <a:r>
              <a:rPr lang="ko-KR" altLang="ko-KR" sz="2000" dirty="0" err="1"/>
              <a:t>토스페이먼츠로</a:t>
            </a:r>
            <a:r>
              <a:rPr lang="ko-KR" altLang="ko-KR" sz="2000" dirty="0"/>
              <a:t> 카드 결제를 받고 싶어요</a:t>
            </a:r>
            <a:r>
              <a:rPr lang="en-US" altLang="ko-KR" sz="2000" dirty="0"/>
              <a:t>“</a:t>
            </a:r>
            <a:endParaRPr lang="ko-KR" altLang="en-US" sz="20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E8A79A8-BE30-7279-69FB-5D83271460BD}"/>
              </a:ext>
            </a:extLst>
          </p:cNvPr>
          <p:cNvSpPr txBox="1">
            <a:spLocks/>
          </p:cNvSpPr>
          <p:nvPr/>
        </p:nvSpPr>
        <p:spPr>
          <a:xfrm>
            <a:off x="6096000" y="3177507"/>
            <a:ext cx="5418908" cy="2658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b="1" dirty="0"/>
              <a:t>❌ </a:t>
            </a:r>
            <a:r>
              <a:rPr lang="ko-KR" altLang="ko-KR" sz="2000" b="1" dirty="0"/>
              <a:t>과정에서의 실패</a:t>
            </a:r>
            <a:r>
              <a:rPr lang="en-US" altLang="ko-KR" sz="2000" b="1" dirty="0"/>
              <a:t>:</a:t>
            </a:r>
            <a:endParaRPr lang="ko-KR" altLang="ko-KR" sz="2000" dirty="0"/>
          </a:p>
          <a:p>
            <a:r>
              <a:rPr lang="en-US" altLang="ko-KR" sz="2000" dirty="0"/>
              <a:t>1</a:t>
            </a:r>
            <a:r>
              <a:rPr lang="ko-KR" altLang="ko-KR" sz="2000" dirty="0"/>
              <a:t>차 시도</a:t>
            </a:r>
            <a:r>
              <a:rPr lang="en-US" altLang="ko-KR" sz="2000" dirty="0"/>
              <a:t>: API </a:t>
            </a:r>
            <a:r>
              <a:rPr lang="ko-KR" altLang="ko-KR" sz="2000" dirty="0"/>
              <a:t>키 설정 오류</a:t>
            </a:r>
          </a:p>
          <a:p>
            <a:r>
              <a:rPr lang="en-US" altLang="ko-KR" sz="2000" dirty="0"/>
              <a:t>2</a:t>
            </a:r>
            <a:r>
              <a:rPr lang="ko-KR" altLang="ko-KR" sz="2000" dirty="0"/>
              <a:t>차 시도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콜백</a:t>
            </a:r>
            <a:r>
              <a:rPr lang="en-US" altLang="ko-KR" sz="2000" dirty="0"/>
              <a:t> URL </a:t>
            </a:r>
            <a:r>
              <a:rPr lang="ko-KR" altLang="ko-KR" sz="2000" dirty="0"/>
              <a:t>잘못됨</a:t>
            </a:r>
          </a:p>
          <a:p>
            <a:r>
              <a:rPr lang="en-US" altLang="ko-KR" sz="2000" dirty="0"/>
              <a:t>3</a:t>
            </a:r>
            <a:r>
              <a:rPr lang="ko-KR" altLang="ko-KR" sz="2000" dirty="0"/>
              <a:t>차 시도</a:t>
            </a:r>
            <a:r>
              <a:rPr lang="en-US" altLang="ko-KR" sz="2000" dirty="0"/>
              <a:t>: </a:t>
            </a:r>
            <a:r>
              <a:rPr lang="ko-KR" altLang="ko-KR" sz="2000" dirty="0"/>
              <a:t>금액 검증 로직 누락</a:t>
            </a:r>
          </a:p>
          <a:p>
            <a:r>
              <a:rPr lang="en-US" altLang="ko-KR" sz="2000" b="1" dirty="0"/>
              <a:t>4</a:t>
            </a:r>
            <a:r>
              <a:rPr lang="ko-KR" altLang="ko-KR" sz="2000" b="1" dirty="0"/>
              <a:t>차 시도</a:t>
            </a:r>
            <a:r>
              <a:rPr lang="en-US" altLang="ko-KR" sz="2000" b="1" dirty="0"/>
              <a:t>: </a:t>
            </a:r>
            <a:r>
              <a:rPr lang="ko-KR" altLang="ko-KR" sz="2000" b="1" dirty="0"/>
              <a:t>성공</a:t>
            </a:r>
            <a:r>
              <a:rPr lang="en-US" altLang="ko-KR" sz="2000" b="1" dirty="0"/>
              <a:t>! ✅</a:t>
            </a:r>
            <a:endParaRPr lang="ko-KR" altLang="ko-KR" sz="2000" dirty="0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9DAE551-F02F-1069-1C7E-6F5E8C2CE7BE}"/>
              </a:ext>
            </a:extLst>
          </p:cNvPr>
          <p:cNvSpPr txBox="1">
            <a:spLocks/>
          </p:cNvSpPr>
          <p:nvPr/>
        </p:nvSpPr>
        <p:spPr>
          <a:xfrm>
            <a:off x="677092" y="3177507"/>
            <a:ext cx="5418908" cy="2658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b="1" dirty="0"/>
              <a:t>💻 AI</a:t>
            </a:r>
            <a:r>
              <a:rPr lang="ko-KR" altLang="ko-KR" sz="2000" b="1" dirty="0"/>
              <a:t>가 한 일</a:t>
            </a:r>
            <a:r>
              <a:rPr lang="en-US" altLang="ko-KR" sz="2000" b="1" dirty="0"/>
              <a:t>:</a:t>
            </a:r>
            <a:endParaRPr lang="ko-KR" altLang="ko-KR" sz="2000" dirty="0"/>
          </a:p>
          <a:p>
            <a:r>
              <a:rPr lang="ko-KR" altLang="ko-KR" sz="2000" dirty="0" err="1"/>
              <a:t>토스페이먼츠</a:t>
            </a:r>
            <a:r>
              <a:rPr lang="en-US" altLang="ko-KR" sz="2000" dirty="0"/>
              <a:t> API </a:t>
            </a:r>
            <a:r>
              <a:rPr lang="ko-KR" altLang="ko-KR" sz="2000" dirty="0"/>
              <a:t>문서 분석</a:t>
            </a:r>
          </a:p>
          <a:p>
            <a:r>
              <a:rPr lang="en-US" altLang="ko-KR" sz="2000" dirty="0"/>
              <a:t>Payment Widget </a:t>
            </a:r>
            <a:r>
              <a:rPr lang="ko-KR" altLang="ko-KR" sz="2000" dirty="0"/>
              <a:t>통합 코드 작성</a:t>
            </a:r>
          </a:p>
          <a:p>
            <a:r>
              <a:rPr lang="ko-KR" altLang="ko-KR" sz="2000" dirty="0"/>
              <a:t>결제 승인 </a:t>
            </a:r>
            <a:r>
              <a:rPr lang="ko-KR" altLang="ko-KR" sz="2000" dirty="0" err="1"/>
              <a:t>콜백</a:t>
            </a:r>
            <a:r>
              <a:rPr lang="ko-KR" altLang="ko-KR" sz="2000" dirty="0"/>
              <a:t> 처리</a:t>
            </a:r>
          </a:p>
          <a:p>
            <a:r>
              <a:rPr lang="ko-KR" altLang="ko-KR" sz="2000" dirty="0"/>
              <a:t>에러 처리 및 로깅</a:t>
            </a:r>
          </a:p>
          <a:p>
            <a:r>
              <a:rPr lang="ko-KR" altLang="ko-KR" sz="2000" dirty="0"/>
              <a:t>테스트 환경 구축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11639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FF959-9C2C-4F99-B85B-051D4D8A2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ko-KR" altLang="ko-KR" b="1" dirty="0" err="1"/>
              <a:t>바이브</a:t>
            </a:r>
            <a:r>
              <a:rPr lang="ko-KR" altLang="ko-KR" b="1" dirty="0"/>
              <a:t> 코딩의 핵심</a:t>
            </a:r>
            <a:r>
              <a:rPr lang="en-US" altLang="ko-KR" b="1" dirty="0"/>
              <a:t> 3</a:t>
            </a:r>
            <a:r>
              <a:rPr lang="ko-KR" altLang="ko-KR" b="1" dirty="0"/>
              <a:t>요소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29FDF4-6D3E-783B-7F4C-774B529C5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39" y="1357834"/>
            <a:ext cx="10515600" cy="22540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ko-KR" b="1" dirty="0"/>
              <a:t>성공하려면 이것만 기억하세요</a:t>
            </a:r>
            <a:br>
              <a:rPr lang="en-US" altLang="ko-KR" b="1" dirty="0"/>
            </a:br>
            <a:endParaRPr lang="ko-KR" altLang="ko-KR" dirty="0"/>
          </a:p>
          <a:p>
            <a:pPr marL="0" indent="0">
              <a:buNone/>
            </a:pPr>
            <a:r>
              <a:rPr lang="en-US" altLang="ko-KR" sz="2400" b="1" dirty="0"/>
              <a:t>🎯 </a:t>
            </a:r>
            <a:r>
              <a:rPr lang="ko-KR" altLang="ko-KR" sz="2400" b="1" dirty="0"/>
              <a:t>명확한 목표</a:t>
            </a:r>
            <a:endParaRPr lang="ko-KR" altLang="ko-KR" sz="2000" dirty="0"/>
          </a:p>
          <a:p>
            <a:pPr lvl="0"/>
            <a:r>
              <a:rPr lang="en-US" altLang="ko-KR" sz="2000" dirty="0"/>
              <a:t>"</a:t>
            </a:r>
            <a:r>
              <a:rPr lang="ko-KR" altLang="ko-KR" sz="2000" dirty="0"/>
              <a:t>무엇을</a:t>
            </a:r>
            <a:r>
              <a:rPr lang="en-US" altLang="ko-KR" sz="2000" dirty="0"/>
              <a:t>" </a:t>
            </a:r>
            <a:r>
              <a:rPr lang="ko-KR" altLang="ko-KR" sz="2000" dirty="0"/>
              <a:t>만들고 </a:t>
            </a:r>
            <a:r>
              <a:rPr lang="ko-KR" altLang="ko-KR" sz="2000" dirty="0" err="1"/>
              <a:t>싶은지</a:t>
            </a:r>
            <a:r>
              <a:rPr lang="ko-KR" altLang="ko-KR" sz="2000" dirty="0"/>
              <a:t> 정확히 알아야 합니다</a:t>
            </a:r>
          </a:p>
          <a:p>
            <a:pPr lvl="0"/>
            <a:r>
              <a:rPr lang="ko-KR" altLang="ko-KR" sz="2000" dirty="0"/>
              <a:t>예</a:t>
            </a:r>
            <a:r>
              <a:rPr lang="en-US" altLang="ko-KR" sz="2000" dirty="0"/>
              <a:t>: "</a:t>
            </a:r>
            <a:r>
              <a:rPr lang="ko-KR" altLang="ko-KR" sz="2000" dirty="0"/>
              <a:t>고객이 스마트폰으로 상품을 주문할 수 있게</a:t>
            </a:r>
            <a:r>
              <a:rPr lang="en-US" altLang="ko-KR" sz="2000" dirty="0"/>
              <a:t>"</a:t>
            </a:r>
            <a:endParaRPr lang="ko-KR" altLang="ko-KR" sz="20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2391A34-6820-4EBA-66F6-6F66030D2728}"/>
              </a:ext>
            </a:extLst>
          </p:cNvPr>
          <p:cNvSpPr txBox="1">
            <a:spLocks/>
          </p:cNvSpPr>
          <p:nvPr/>
        </p:nvSpPr>
        <p:spPr>
          <a:xfrm>
            <a:off x="1071155" y="4317591"/>
            <a:ext cx="5090160" cy="2031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b="1" dirty="0"/>
              <a:t>💬 </a:t>
            </a:r>
            <a:r>
              <a:rPr lang="ko-KR" altLang="ko-KR" sz="2400" b="1" dirty="0"/>
              <a:t>대화 능력</a:t>
            </a:r>
            <a:endParaRPr lang="ko-KR" altLang="ko-KR" sz="2400" dirty="0"/>
          </a:p>
          <a:p>
            <a:r>
              <a:rPr lang="en-US" altLang="ko-KR" sz="2000" dirty="0"/>
              <a:t>AI</a:t>
            </a:r>
            <a:r>
              <a:rPr lang="ko-KR" altLang="ko-KR" sz="2000" dirty="0"/>
              <a:t>에게 문제를</a:t>
            </a:r>
            <a:r>
              <a:rPr lang="en-US" altLang="ko-KR" sz="2000" dirty="0"/>
              <a:t> </a:t>
            </a:r>
            <a:r>
              <a:rPr lang="ko-KR" altLang="ko-KR" sz="2000" b="1" dirty="0"/>
              <a:t>설명하는 능력</a:t>
            </a:r>
            <a:endParaRPr lang="ko-KR" altLang="ko-KR" sz="2000" dirty="0"/>
          </a:p>
          <a:p>
            <a:r>
              <a:rPr lang="ko-KR" altLang="ko-KR" sz="2000" dirty="0"/>
              <a:t>에러를 보고하는 능력</a:t>
            </a:r>
          </a:p>
          <a:p>
            <a:r>
              <a:rPr lang="ko-KR" altLang="ko-KR" sz="2000" dirty="0"/>
              <a:t>피드백을 주는 능력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7B59321-6BA6-B771-B4FF-F59B9FD77F88}"/>
              </a:ext>
            </a:extLst>
          </p:cNvPr>
          <p:cNvSpPr txBox="1">
            <a:spLocks/>
          </p:cNvSpPr>
          <p:nvPr/>
        </p:nvSpPr>
        <p:spPr>
          <a:xfrm>
            <a:off x="6705601" y="4317591"/>
            <a:ext cx="5090160" cy="2031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b="1" dirty="0"/>
              <a:t>🔄 </a:t>
            </a:r>
            <a:r>
              <a:rPr lang="ko-KR" altLang="ko-KR" sz="2400" b="1" dirty="0"/>
              <a:t>끈기와 반복</a:t>
            </a:r>
            <a:endParaRPr lang="ko-KR" altLang="ko-KR" sz="2400" dirty="0"/>
          </a:p>
          <a:p>
            <a:r>
              <a:rPr lang="ko-KR" altLang="ko-KR" sz="2000" dirty="0"/>
              <a:t>한 번에 안 되면 다시 시도</a:t>
            </a:r>
          </a:p>
          <a:p>
            <a:r>
              <a:rPr lang="en-US" altLang="ko-KR" sz="2000" dirty="0"/>
              <a:t>331</a:t>
            </a:r>
            <a:r>
              <a:rPr lang="ko-KR" altLang="ko-KR" sz="2000" dirty="0"/>
              <a:t>번 </a:t>
            </a:r>
            <a:r>
              <a:rPr lang="ko-KR" altLang="ko-KR" sz="2000" dirty="0" err="1"/>
              <a:t>커밋</a:t>
            </a:r>
            <a:r>
              <a:rPr lang="en-US" altLang="ko-KR" sz="2000" dirty="0"/>
              <a:t> = 331</a:t>
            </a:r>
            <a:r>
              <a:rPr lang="ko-KR" altLang="ko-KR" sz="2000" dirty="0"/>
              <a:t>번 개선</a:t>
            </a:r>
          </a:p>
          <a:p>
            <a:r>
              <a:rPr lang="ko-KR" altLang="ko-KR" sz="2000" b="1" dirty="0"/>
              <a:t>포기하지 않기</a:t>
            </a:r>
            <a:endParaRPr lang="ko-KR" altLang="ko-KR" sz="2000" dirty="0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3572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AA1054-B275-17E0-1D2D-644013D2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ko-KR" altLang="ko-KR" b="1" dirty="0"/>
              <a:t>필요한 도구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19C4A9-CC61-D10F-136B-189A525B5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48" y="1343818"/>
            <a:ext cx="10515600" cy="591004"/>
          </a:xfrm>
        </p:spPr>
        <p:txBody>
          <a:bodyPr/>
          <a:lstStyle/>
          <a:p>
            <a:pPr marL="0" indent="0">
              <a:buNone/>
            </a:pPr>
            <a:r>
              <a:rPr lang="ko-KR" altLang="ko-KR" b="1" dirty="0"/>
              <a:t>뭘 준비해야 할까요</a:t>
            </a:r>
            <a:r>
              <a:rPr lang="en-US" altLang="ko-KR" b="1" dirty="0"/>
              <a:t>?</a:t>
            </a:r>
            <a:endParaRPr lang="ko-KR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EE1570-4888-9B2E-A06E-FDF8A9AEA570}"/>
              </a:ext>
            </a:extLst>
          </p:cNvPr>
          <p:cNvSpPr txBox="1">
            <a:spLocks/>
          </p:cNvSpPr>
          <p:nvPr/>
        </p:nvSpPr>
        <p:spPr>
          <a:xfrm>
            <a:off x="431075" y="2257580"/>
            <a:ext cx="5355771" cy="2248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💰 </a:t>
            </a:r>
            <a:r>
              <a:rPr lang="ko-KR" altLang="ko-KR" b="1" dirty="0"/>
              <a:t>비용</a:t>
            </a:r>
            <a:endParaRPr lang="ko-KR" altLang="ko-KR" dirty="0"/>
          </a:p>
          <a:p>
            <a:pPr marL="0" lvl="0" indent="0">
              <a:buNone/>
            </a:pPr>
            <a:r>
              <a:rPr lang="en-US" altLang="ko-KR" sz="2000" b="1" dirty="0"/>
              <a:t>Claude Code Pro</a:t>
            </a:r>
            <a:r>
              <a:rPr lang="en-US" altLang="ko-KR" sz="2000" dirty="0"/>
              <a:t>: </a:t>
            </a:r>
            <a:r>
              <a:rPr lang="ko-KR" altLang="ko-KR" sz="2000" dirty="0"/>
              <a:t>월</a:t>
            </a:r>
            <a:r>
              <a:rPr lang="en-US" altLang="ko-KR" sz="2000" dirty="0"/>
              <a:t> $20 (</a:t>
            </a:r>
            <a:r>
              <a:rPr lang="ko-KR" altLang="ko-KR" sz="2000" dirty="0"/>
              <a:t>약</a:t>
            </a:r>
            <a:r>
              <a:rPr lang="en-US" altLang="ko-KR" sz="2000" dirty="0"/>
              <a:t> 27,000</a:t>
            </a:r>
            <a:r>
              <a:rPr lang="ko-KR" altLang="ko-KR" sz="2000" dirty="0"/>
              <a:t>원</a:t>
            </a:r>
            <a:r>
              <a:rPr lang="en-US" altLang="ko-KR" sz="2000" dirty="0"/>
              <a:t>)</a:t>
            </a:r>
            <a:endParaRPr lang="ko-KR" altLang="ko-KR" sz="2000" dirty="0"/>
          </a:p>
          <a:p>
            <a:pPr marL="0" lvl="0" indent="0">
              <a:buNone/>
            </a:pPr>
            <a:r>
              <a:rPr lang="ko-KR" altLang="ko-KR" sz="2000" b="1" dirty="0"/>
              <a:t>서버 호스팅</a:t>
            </a:r>
            <a:r>
              <a:rPr lang="en-US" altLang="ko-KR" sz="2000" dirty="0"/>
              <a:t>: </a:t>
            </a:r>
            <a:r>
              <a:rPr lang="ko-KR" altLang="ko-KR" sz="2000" dirty="0"/>
              <a:t>월</a:t>
            </a:r>
            <a:r>
              <a:rPr lang="en-US" altLang="ko-KR" sz="2000" dirty="0"/>
              <a:t> $5-20 (</a:t>
            </a:r>
            <a:r>
              <a:rPr lang="ko-KR" altLang="ko-KR" sz="2000" dirty="0"/>
              <a:t>선택사항</a:t>
            </a:r>
            <a:r>
              <a:rPr lang="en-US" altLang="ko-KR" sz="2000" dirty="0"/>
              <a:t>)</a:t>
            </a:r>
            <a:endParaRPr lang="ko-KR" altLang="ko-KR" sz="2000" dirty="0"/>
          </a:p>
          <a:p>
            <a:pPr marL="0" lvl="0" indent="0">
              <a:buNone/>
            </a:pPr>
            <a:r>
              <a:rPr lang="ko-KR" altLang="ko-KR" sz="2000" b="1" dirty="0"/>
              <a:t>총 비용</a:t>
            </a:r>
            <a:r>
              <a:rPr lang="en-US" altLang="ko-KR" sz="2000" dirty="0"/>
              <a:t>: </a:t>
            </a:r>
            <a:r>
              <a:rPr lang="ko-KR" altLang="ko-KR" sz="2000" dirty="0"/>
              <a:t>월</a:t>
            </a:r>
            <a:r>
              <a:rPr lang="en-US" altLang="ko-KR" sz="2000" dirty="0"/>
              <a:t> 3-5</a:t>
            </a:r>
            <a:r>
              <a:rPr lang="ko-KR" altLang="ko-KR" sz="2000" dirty="0"/>
              <a:t>만원 정도</a:t>
            </a:r>
          </a:p>
          <a:p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BA5747C-E85F-26CC-2C9D-00CAD2C139E0}"/>
              </a:ext>
            </a:extLst>
          </p:cNvPr>
          <p:cNvSpPr txBox="1">
            <a:spLocks/>
          </p:cNvSpPr>
          <p:nvPr/>
        </p:nvSpPr>
        <p:spPr>
          <a:xfrm>
            <a:off x="6797039" y="2304765"/>
            <a:ext cx="4047309" cy="2248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💻 </a:t>
            </a:r>
            <a:r>
              <a:rPr lang="ko-KR" altLang="ko-KR" b="1" dirty="0"/>
              <a:t>기술 환경</a:t>
            </a:r>
            <a:endParaRPr lang="ko-KR" altLang="ko-KR" dirty="0"/>
          </a:p>
          <a:p>
            <a:pPr marL="0" lvl="0" indent="0">
              <a:buNone/>
            </a:pPr>
            <a:r>
              <a:rPr lang="ko-KR" altLang="ko-KR" sz="2000" dirty="0"/>
              <a:t>인터넷 연결</a:t>
            </a:r>
          </a:p>
          <a:p>
            <a:pPr marL="0" lvl="0" indent="0">
              <a:buNone/>
            </a:pPr>
            <a:r>
              <a:rPr lang="ko-KR" altLang="ko-KR" sz="2000" dirty="0"/>
              <a:t>컴퓨터</a:t>
            </a:r>
            <a:r>
              <a:rPr lang="en-US" altLang="ko-KR" sz="2000" dirty="0"/>
              <a:t> (Windows/Mac </a:t>
            </a:r>
            <a:r>
              <a:rPr lang="ko-KR" altLang="ko-KR" sz="2000" dirty="0"/>
              <a:t>아무거나</a:t>
            </a:r>
            <a:r>
              <a:rPr lang="en-US" altLang="ko-KR" sz="2000" dirty="0"/>
              <a:t>)</a:t>
            </a:r>
            <a:endParaRPr lang="ko-KR" altLang="ko-KR" sz="2000" dirty="0"/>
          </a:p>
          <a:p>
            <a:pPr marL="0" lvl="0" indent="0">
              <a:buNone/>
            </a:pPr>
            <a:r>
              <a:rPr lang="ko-KR" altLang="ko-KR" sz="2000" dirty="0"/>
              <a:t>웹 브라우저</a:t>
            </a:r>
          </a:p>
          <a:p>
            <a:pPr marL="0" lvl="0" indent="0">
              <a:buNone/>
            </a:pPr>
            <a:r>
              <a:rPr lang="ko-KR" altLang="ko-KR" sz="2000" b="1" dirty="0"/>
              <a:t>그게 끝입니다</a:t>
            </a:r>
            <a:r>
              <a:rPr lang="en-US" altLang="ko-KR" sz="2000" b="1" dirty="0"/>
              <a:t>!</a:t>
            </a:r>
            <a:endParaRPr lang="ko-KR" altLang="ko-KR" sz="2000" dirty="0"/>
          </a:p>
          <a:p>
            <a:endParaRPr lang="ko-KR" altLang="en-US" sz="2000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C4BA59E-01CB-83A9-9D5B-3C6597C747A3}"/>
              </a:ext>
            </a:extLst>
          </p:cNvPr>
          <p:cNvSpPr txBox="1">
            <a:spLocks/>
          </p:cNvSpPr>
          <p:nvPr/>
        </p:nvSpPr>
        <p:spPr>
          <a:xfrm>
            <a:off x="431075" y="4828807"/>
            <a:ext cx="4047309" cy="1689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⏰ </a:t>
            </a:r>
            <a:r>
              <a:rPr lang="ko-KR" altLang="ko-KR" b="1" dirty="0"/>
              <a:t>시간 투자</a:t>
            </a:r>
            <a:endParaRPr lang="ko-KR" altLang="ko-KR" dirty="0"/>
          </a:p>
          <a:p>
            <a:pPr marL="0" lvl="0" indent="0">
              <a:buNone/>
            </a:pPr>
            <a:r>
              <a:rPr lang="ko-KR" altLang="ko-KR" sz="2000" dirty="0"/>
              <a:t>하루</a:t>
            </a:r>
            <a:r>
              <a:rPr lang="en-US" altLang="ko-KR" sz="2000" dirty="0"/>
              <a:t> 2-3</a:t>
            </a:r>
            <a:r>
              <a:rPr lang="ko-KR" altLang="ko-KR" sz="2000" dirty="0"/>
              <a:t>시간</a:t>
            </a:r>
          </a:p>
          <a:p>
            <a:pPr marL="0" lvl="0" indent="0">
              <a:buNone/>
            </a:pPr>
            <a:r>
              <a:rPr lang="ko-KR" altLang="ko-KR" sz="2000" dirty="0"/>
              <a:t>주</a:t>
            </a:r>
            <a:r>
              <a:rPr lang="en-US" altLang="ko-KR" sz="2000" dirty="0"/>
              <a:t> 5-6</a:t>
            </a:r>
            <a:r>
              <a:rPr lang="ko-KR" altLang="ko-KR" sz="2000" dirty="0"/>
              <a:t>일</a:t>
            </a:r>
          </a:p>
          <a:p>
            <a:pPr marL="0" lvl="0" indent="0">
              <a:buNone/>
            </a:pPr>
            <a:r>
              <a:rPr lang="en-US" altLang="ko-KR" sz="2000" dirty="0"/>
              <a:t>1-2</a:t>
            </a:r>
            <a:r>
              <a:rPr lang="ko-KR" altLang="ko-KR" sz="2000" dirty="0"/>
              <a:t>달이면 결과물 나옴</a:t>
            </a:r>
          </a:p>
          <a:p>
            <a:endParaRPr lang="ko-KR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5567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03B5-8AE3-32FB-36D1-DBE65F545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ko-KR" altLang="ko-KR" b="1" dirty="0"/>
              <a:t>이런 것들을 만들 수 있습니다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83CAE05-D2FB-6072-BF35-196DC1757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48" y="1343818"/>
            <a:ext cx="10515600" cy="591004"/>
          </a:xfrm>
        </p:spPr>
        <p:txBody>
          <a:bodyPr/>
          <a:lstStyle/>
          <a:p>
            <a:pPr marL="0" indent="0">
              <a:buNone/>
            </a:pPr>
            <a:r>
              <a:rPr lang="ko-KR" altLang="ko-KR" b="1" dirty="0"/>
              <a:t>뭘 준비해야 할까요</a:t>
            </a:r>
            <a:r>
              <a:rPr lang="en-US" altLang="ko-KR" b="1" dirty="0"/>
              <a:t>?</a:t>
            </a:r>
            <a:endParaRPr lang="ko-KR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3C4258-0550-3B77-5E0C-6C2933994577}"/>
              </a:ext>
            </a:extLst>
          </p:cNvPr>
          <p:cNvSpPr txBox="1">
            <a:spLocks/>
          </p:cNvSpPr>
          <p:nvPr/>
        </p:nvSpPr>
        <p:spPr>
          <a:xfrm>
            <a:off x="431075" y="2257580"/>
            <a:ext cx="5355771" cy="2248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📱 </a:t>
            </a:r>
            <a:r>
              <a:rPr lang="ko-KR" altLang="ko-KR" b="1" dirty="0"/>
              <a:t>모바일 앱</a:t>
            </a:r>
            <a:endParaRPr lang="ko-KR" altLang="ko-KR" dirty="0"/>
          </a:p>
          <a:p>
            <a:pPr marL="0" lvl="0" indent="0">
              <a:buNone/>
            </a:pPr>
            <a:r>
              <a:rPr lang="ko-KR" altLang="ko-KR" sz="2000" dirty="0"/>
              <a:t>쇼핑몰</a:t>
            </a:r>
          </a:p>
          <a:p>
            <a:pPr marL="0" lvl="0" indent="0">
              <a:buNone/>
            </a:pPr>
            <a:r>
              <a:rPr lang="ko-KR" altLang="ko-KR" sz="2000" dirty="0"/>
              <a:t>주문 관리 시스템</a:t>
            </a:r>
          </a:p>
          <a:p>
            <a:pPr marL="0" lvl="0" indent="0">
              <a:buNone/>
            </a:pPr>
            <a:r>
              <a:rPr lang="ko-KR" altLang="ko-KR" sz="2000" dirty="0"/>
              <a:t>고객 관리</a:t>
            </a:r>
            <a:r>
              <a:rPr lang="en-US" altLang="ko-KR" sz="2000" dirty="0"/>
              <a:t> (CRM)</a:t>
            </a:r>
            <a:endParaRPr lang="ko-KR" altLang="ko-KR" sz="2000" dirty="0"/>
          </a:p>
          <a:p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CA0B4D0-9CED-916F-008C-5FB59EE01ECA}"/>
              </a:ext>
            </a:extLst>
          </p:cNvPr>
          <p:cNvSpPr txBox="1">
            <a:spLocks/>
          </p:cNvSpPr>
          <p:nvPr/>
        </p:nvSpPr>
        <p:spPr>
          <a:xfrm>
            <a:off x="6797039" y="2304765"/>
            <a:ext cx="4047309" cy="2248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💻 </a:t>
            </a:r>
            <a:r>
              <a:rPr lang="ko-KR" altLang="ko-KR" b="1" dirty="0"/>
              <a:t>기술 환경</a:t>
            </a:r>
            <a:endParaRPr lang="ko-KR" altLang="ko-KR" dirty="0"/>
          </a:p>
          <a:p>
            <a:pPr marL="0" lvl="0" indent="0">
              <a:buNone/>
            </a:pPr>
            <a:r>
              <a:rPr lang="ko-KR" altLang="ko-KR" sz="2000" dirty="0"/>
              <a:t>인터넷 연결</a:t>
            </a:r>
          </a:p>
          <a:p>
            <a:pPr marL="0" lvl="0" indent="0">
              <a:buNone/>
            </a:pPr>
            <a:r>
              <a:rPr lang="ko-KR" altLang="ko-KR" sz="2000" dirty="0"/>
              <a:t>컴퓨터</a:t>
            </a:r>
            <a:r>
              <a:rPr lang="en-US" altLang="ko-KR" sz="2000" dirty="0"/>
              <a:t> (Windows/Mac </a:t>
            </a:r>
            <a:r>
              <a:rPr lang="ko-KR" altLang="ko-KR" sz="2000" dirty="0"/>
              <a:t>아무거나</a:t>
            </a:r>
            <a:r>
              <a:rPr lang="en-US" altLang="ko-KR" sz="2000" dirty="0"/>
              <a:t>)</a:t>
            </a:r>
            <a:endParaRPr lang="ko-KR" altLang="ko-KR" sz="2000" dirty="0"/>
          </a:p>
          <a:p>
            <a:pPr marL="0" lvl="0" indent="0">
              <a:buNone/>
            </a:pPr>
            <a:r>
              <a:rPr lang="ko-KR" altLang="ko-KR" sz="2000" dirty="0"/>
              <a:t>웹 브라우저</a:t>
            </a:r>
          </a:p>
          <a:p>
            <a:pPr marL="0" lvl="0" indent="0">
              <a:buNone/>
            </a:pPr>
            <a:r>
              <a:rPr lang="ko-KR" altLang="ko-KR" sz="2000" b="1" dirty="0"/>
              <a:t>그게 끝입니다</a:t>
            </a:r>
            <a:r>
              <a:rPr lang="en-US" altLang="ko-KR" sz="2000" b="1" dirty="0"/>
              <a:t>!</a:t>
            </a:r>
            <a:endParaRPr lang="ko-KR" altLang="ko-KR" sz="2000" dirty="0"/>
          </a:p>
          <a:p>
            <a:endParaRPr lang="ko-KR" altLang="en-US" sz="20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B380A06-7A52-73A3-1015-30FA9044B2D4}"/>
              </a:ext>
            </a:extLst>
          </p:cNvPr>
          <p:cNvSpPr txBox="1">
            <a:spLocks/>
          </p:cNvSpPr>
          <p:nvPr/>
        </p:nvSpPr>
        <p:spPr>
          <a:xfrm>
            <a:off x="431075" y="4828807"/>
            <a:ext cx="4047309" cy="1689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⏰ </a:t>
            </a:r>
            <a:r>
              <a:rPr lang="ko-KR" altLang="ko-KR" b="1" dirty="0"/>
              <a:t>시간 투자</a:t>
            </a:r>
            <a:endParaRPr lang="ko-KR" altLang="ko-KR" dirty="0"/>
          </a:p>
          <a:p>
            <a:pPr marL="0" lvl="0" indent="0">
              <a:buNone/>
            </a:pPr>
            <a:r>
              <a:rPr lang="ko-KR" altLang="ko-KR" sz="2000" dirty="0"/>
              <a:t>하루</a:t>
            </a:r>
            <a:r>
              <a:rPr lang="en-US" altLang="ko-KR" sz="2000" dirty="0"/>
              <a:t> 2-3</a:t>
            </a:r>
            <a:r>
              <a:rPr lang="ko-KR" altLang="ko-KR" sz="2000" dirty="0"/>
              <a:t>시간</a:t>
            </a:r>
          </a:p>
          <a:p>
            <a:pPr marL="0" lvl="0" indent="0">
              <a:buNone/>
            </a:pPr>
            <a:r>
              <a:rPr lang="ko-KR" altLang="ko-KR" sz="2000" dirty="0"/>
              <a:t>주</a:t>
            </a:r>
            <a:r>
              <a:rPr lang="en-US" altLang="ko-KR" sz="2000" dirty="0"/>
              <a:t> 5-6</a:t>
            </a:r>
            <a:r>
              <a:rPr lang="ko-KR" altLang="ko-KR" sz="2000" dirty="0"/>
              <a:t>일</a:t>
            </a:r>
          </a:p>
          <a:p>
            <a:pPr marL="0" lvl="0" indent="0">
              <a:buNone/>
            </a:pPr>
            <a:r>
              <a:rPr lang="en-US" altLang="ko-KR" sz="2000" dirty="0"/>
              <a:t>1-2</a:t>
            </a:r>
            <a:r>
              <a:rPr lang="ko-KR" altLang="ko-KR" sz="2000" dirty="0"/>
              <a:t>달이면 결과물 나옴</a:t>
            </a:r>
          </a:p>
          <a:p>
            <a:endParaRPr lang="ko-KR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49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3704</TotalTime>
  <Words>2652</Words>
  <Application>Microsoft Office PowerPoint</Application>
  <PresentationFormat>와이드스크린</PresentationFormat>
  <Paragraphs>401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Times New Roman</vt:lpstr>
      <vt:lpstr>Office 테마</vt:lpstr>
      <vt:lpstr>바이브 코딩 (Vibe Coding)  </vt:lpstr>
      <vt:lpstr>📋 강의 개요</vt:lpstr>
      <vt:lpstr>59세 영업맨이 35일 만에  쇼핑몰 앱을 만든 이야기</vt:lpstr>
      <vt:lpstr>저는 이런 사람입니다</vt:lpstr>
      <vt:lpstr>바이브 코딩(Vibe Coding)</vt:lpstr>
      <vt:lpstr>기존 개발 vs 바이브 코딩</vt:lpstr>
      <vt:lpstr>35일 여정, 10월 1일 → 11월 4일까지</vt:lpstr>
      <vt:lpstr>예시 1.    "고객 전화번호를 정리하고 싶어요"</vt:lpstr>
      <vt:lpstr>예시 1.     "결제 시스템을 연결하고 싶어요"</vt:lpstr>
      <vt:lpstr>바이브 코딩의 핵심 3요소</vt:lpstr>
      <vt:lpstr>필요한 도구</vt:lpstr>
      <vt:lpstr>이런 것들을 만들 수 있습니다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abu8w</dc:creator>
  <cp:lastModifiedBy>abu8w</cp:lastModifiedBy>
  <cp:revision>4</cp:revision>
  <dcterms:created xsi:type="dcterms:W3CDTF">2025-11-03T08:56:24Z</dcterms:created>
  <dcterms:modified xsi:type="dcterms:W3CDTF">2025-11-06T22:05:44Z</dcterms:modified>
</cp:coreProperties>
</file>